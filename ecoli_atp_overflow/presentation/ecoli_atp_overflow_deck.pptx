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Consolas"/>
              </a:defRPr>
            </a:pPr>
            <a:r>
              <a:t>定量系統生物學  |  單細胞微流體  |  蛋白質組經濟學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大腸桿菌單細胞 ATP 動態與</a:t>
            </a:r>
            <a:br/>
            <a:r>
              <a:t>溢流代謝機制深度解析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Studying Single-Cell ATP Dynamics and Overflow Metabolism in Escherichia coli:</a:t>
            </a:r>
            <a:br/>
            <a:r>
              <a:t>Bridging Biosensor Biophotonics, Mother Machine Microfluidics, and Proteome Allocation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E5FF"/>
                </a:solidFill>
                <a:latin typeface="Consolas"/>
              </a:defRPr>
            </a:pPr>
            <a:r>
              <a:t>主講團隊：Jev-Engineering 系統與合成生物學研究組</a:t>
            </a:r>
            <a:br/>
            <a:r>
              <a:t>日期：2026-10-12   |   規格：16:9 Academic Keynote Deck   |   狀態：Final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EXECUTIVE AGENDA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研究架構與報告大綱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[OVERVIEW]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01. 生理悖論與研究背景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產率與速率的演化博弈、群體平均觀測之局限與單細胞異質性挑戰。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02. 單細胞 ATP 感測技術光譜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9339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ATeam、QUEEN、PercevalHR 物理機制、解離常數與活細胞原位標定。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03. Mother Machine 時序追蹤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死端微捕獲晶片設計、數十世代無干擾恆化觀測與單細胞生長率解析。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04. 能量噪聲與休眠持久菌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8211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穩態 ATP 分布、雙峰異質分化與低能量持久菌 (Persisters) 之存活優勢。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05. 溢流代謝與 Crabtree 效應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呼吸瓶頸假說、膜空間擁擠限制與蛋白質組經濟學假說之演化整合。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06. 粗粒化蛋白質組分配模型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7083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φ_total = φ_0 + φ_R + φ_M + φ_F + φ_Q 四扇區經濟學約束推導。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07. 代謝調控網絡與乙酸開關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595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Crp-cAMP、Cra、CsrA 與 Pta-AckA vs Acs 雙向能量開關生化機制。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5120640"/>
            <a:ext cx="5120640" cy="105156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257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08. 生物程序工程與合成生物學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5595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動態 PtsG 分流閥門迴路設計、高密度發酵溢流抑制與未來多組學展望。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BACKGROUND &amp; PARADIGM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能量恆定性 vs 代謝溢流之生理悖論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[PARADOX]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生理悖論：高生長速率下的『浪費』策略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高效氧化呼吸模式：每莫耳葡萄糖經由完全氧化可回收約 ~26 ATP 當量。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低效溢流發酵模式：當比生長速率 μ &gt; 0.7 h⁻¹ 時，細胞主動將碳源分流為乙酸，產能驟降至 ~14 ATP/Glc。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跨界保守現象：大腸桿菌乙酸溢流、酵母酒精發酵 (Crabtree Effect)、癌細胞有氧糖解 (Warburg Effect) 展現完全一致的演化代謝收斂性。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核心疑問：在競爭最激烈的富養環境中，為何生物體會演化出單位受質能量產率最低的代謝表型？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群體平均觀測的四大科學盲區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盲區 1：掩蓋極端亞群。休眠持久菌 (Persisters) 佔比僅 0.01%~1%，群體平均測量完全無法捕獲其深層能量跌落。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盲區 2：掩蔽單細胞噪聲。同質遺傳背景下個體細胞的 ATP 波動 CV 可達 20%，平均值抹平了生長速率與能量的瞬時動態偶聯。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盲區 3：無法解析轉移滯後。在由葡萄糖切換至乙酸 (Diauxic shift) 過程中，個體細胞啟動 Acs 回收的時間存在數小時的分化延遲。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研究突破口：必須結合微流體高通量成像與單細胞活體螢光傳感探針，實現時空連續單細胞量測。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BIOSENSOR SPECTRUM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單細胞 ATP 遺傳編碼螢光生物感測技術光譜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[FRET &amp; RATIO]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237744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三大主流 ATP 感測器性能特性對比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103628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感測器名稱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核心生物物理機制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解離常數 (Kd)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pH 敏感性與干擾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最適用途與優缺點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ATeam1.03-nD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F0F1-ATP 合成酶 ε 亞基介導 FRET (mseCFP/cp173Venus)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~3.3 mM (37°C)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低 (pH 7.1-8.2 穩定鈍感)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精確覆蓋大腸桿菌生理濃度；訊噪比極高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QUEEN-2m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單環狀排列 GFP (405/488 nm 雙激發單發射)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~4.5 mM (30°C)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中等 (需配合 pH 監測)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光譜佔用小，極利於多色螢光共定位成像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PercevalHR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細菌 GlnK 蛋白重組單螢光比率 (ATP/ADP)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Kd(ATP) ~1.0 mM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極高 (必須同步搭載 pHRed 校準)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直接反映能量電荷 (Energy Charge)；受 pH 擾動大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活細胞原位校準與 FRET 比率計量法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FRET 比率計量原理：Ratio = I(Venus, 527 nm) / I(CFP, 475 nm)。比值完全抵消激發光強度波動、物鏡對焦漂移與探針表現量個體差異。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原位通透化校準規範：以甲苯 (0.1% Toluene) 處理穿透膜結構，加入 2-脫氧葡萄糖與 NaN3 徹底阻斷內源代謝，通入外源標準 ATP 梯度標定 Hill 方程。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溫度係數修正：ε 亞基熱力學構象靈敏度高，37°C 下之 Kd 較 25°C 增加約 1.8 倍，需精確溫控至 ±0.2°C 以免引發系統漂移。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MICROFLUIDICS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Mother Machine 微流體晶片：長時序單細胞追蹤平台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[CHEMOSTAT-ON-A-CHIP]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幾何微結構設計與流場控制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雙層微通道架構：主灌流水道 (寬 25 μm, 高 25 μm) + 兩側數千條垂直盲端捕獲溝槽 (寬 1.2 μm, 高 1.2 μm, 長 25 μm)。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流體力學無剪切保護：主水道以 5-10 μL/min 恆速泵入新鮮培養液，盲端內部完全依靠分子自由擴散（擴散平衡時間 &lt; 1 秒），細胞免受流場剪應力損傷。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母細胞 (Mother Cell) 連續追蹤：母細胞永恆滯留於盲端底部，子代細胞生長推擠溢出並被主水流即時沖走，實現 100+ 世代無截斷時序觀測。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真正生理恆態：完全消除搖瓶實驗中菌體濃度上升引起的溶氧下降、受質耗竭與自體分泌物酸化！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影像分析流程與時序信號提取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亞微米分割演算法：利用深層卷積網路 (StarDist / U-Net) 自動分割緊密貼合的桿狀菌體，邊界誤差 &lt; 0.05 μm。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單細胞生長率即時運算：μ(t) = d(ln L(t))/dt，以細胞長度對數時序斜率求導提取瞬時細胞週期伸長率。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多通道同步螢光採集：436 nm 激發 / CFP+YFP 雙通道快速濾光輪切換，獲取每世代高時間解析度 (每 3 分鐘一幀) ATP 比率信號。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世代時序關聯譜分析：構建母代與子代之間 ATP 噪音、分裂大小與生長速率的自相關函數與互相關時滯 (Cross-correlation lag)。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ENERGY STOCHASTICITY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單細胞能量噪聲與非遺傳異質性 (Persister Phenotype)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[BIMODAL NOISE]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能量噪聲的物理起源與數學解耦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穩態分布特徵：在葡萄糖指數生長期，胞內 [ATP] 呈現單峰準高斯分佈，均值 3.5 ± 0.6 mM，變異係數 CV ≈ 18%。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內在噪聲 (η_int)：源於 ATP 合成酶、糖解酵素之隨機催化事件與質子泵量子開關噪聲。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外在噪聲 (η_ext)：源於細胞分裂時體積分配偏差及母代核糖體/粒徑的二項式不均等分配 (Binomial Partitioning)。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數學分解定理：CV² = σ² / &lt;ATP&gt;² = η_int² + η_ext²，微流體雙報告基因實驗證實外在噪聲主導了約 72% 的總方差！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雙峰分化與休眠持久菌 (Persisters)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亞群體雙峰分化：在碳源耗盡過渡期或過載應激下，單細胞頻率分布突變為典型雙峰結構 (Bimodal Distribution)。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休眠臨界閾值：當個體單細胞 [ATP] 隨機跌破臨界閾值 (~1.2 mM) 時，DnaK 伴侶蛋白失活，蛋白質聚集體激增。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(p)ppGpp 嚴格反應引爆：低 ATP 觸發 RelA/SpoT 介導的警報素暴增，關閉 rRNA 轉錄與轉譯延伸，細胞驟入深度休眠。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抗生素耐受性本質：持久菌非基因突變所致，而是單細胞能量隨機噪聲跌入深能量阱引發的生存適應表型！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OVERFLOW MECHANISM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溢流代謝與 Crabtree / Warburg 效應機制剖析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[RATE VS YIELD]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溢流代謝三大假說之整合對比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假說名稱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核心生物物理假定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實驗支持依據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模型預測與評價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 呼吸容量限制假說</a:t>
                      </a:r>
                      <a:br/>
                      <a:r>
                        <a:t>(Respiration Bottleneck)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電子傳遞鏈 (ETC: Cyd/Cyo 氧化酶與 NADH 脫氫酶) 具有固定通量上限，過剩 NADH 被迫轉移。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化學計量限制測量中，高生長率下 q_O2 達到飽和平台 (Saturation Plateau)。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能解釋呼吸飽和，但無法解釋為何細胞不合成更多呼吸酵素。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 內膜空間擁擠假說</a:t>
                      </a:r>
                      <a:br/>
                      <a:r>
                        <a:t>(Membrane Crowding)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細菌內膜表面積有限，呼吸鏈超分子複合物佔用面積龐大，高生長率下膜空間達物理飽和極限。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低表面積/體積比的球狀變形株更早發生乙酸溢流；膜蛋白密度測量支持此飽和。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成功解釋膜空間幾何物理極限，但細胞質酵素合成成本未納入考量。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 蛋白質組經濟學假說</a:t>
                      </a:r>
                      <a:br/>
                      <a:r>
                        <a:t>(Proteome Efficiency)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發酵酵素單位產能的蛋白質合成成本遠低於呼吸酵素 (cF &lt;&lt; cM)，為最大化生長率的最優解。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Basan et al. (Nature 2015) 證實給予無毒呼吸抑製劑後細胞如期提前啟動發酵。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目前最通用、最具預測力的定量框架，完美統一大腸桿菌、酵母與腫瘤代謝！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PROTEOME ALLOCATION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粗粒化蛋白質組分配經濟學模型 (φ_R, φ_M, φ_F, φ_Q)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[MATHEMATICAL FRAMEWORK]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四扇區蛋白質組分配唯象定律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蛋白質組總質量守恆方程：</a:t>
            </a:r>
            <a:br/>
            <a:r>
              <a:t>φ_total = φ_0 + φ_R(μ) + φ_M + φ_F + φ_Q = 1.0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核糖體扇區線性膨脹：</a:t>
            </a:r>
            <a:br/>
            <a:r>
              <a:t>φ_R(μ) = μ / σ_trans + φ_R0</a:t>
            </a:r>
            <a:br/>
            <a:r>
              <a:t>(隨生長速率 μ 線性擴張，核糖體需佔據高達 30%~50% 總蛋白)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呼吸酵素扇區成本高昂：</a:t>
            </a:r>
            <a:br/>
            <a:r>
              <a:t>φ_M = c_M · J_M  (c_M ≈ 0.28 g_protein / (mmol/h))</a:t>
            </a:r>
            <a:br/>
            <a:r>
              <a:t>呼吸作用雖高產 (26 ATP)，但複合酵素龐大且 turnover 偏低。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發酵酵素扇區極其緊湊：</a:t>
            </a:r>
            <a:br/>
            <a:r>
              <a:t>φ_F = c_F · J_F  (c_F ≈ 0.09 g_protein / (mmol/h))</a:t>
            </a:r>
            <a:br/>
            <a:r>
              <a:t>發酵產率雖低 (14 ATP)，但 c_F 僅為 c_M 的 1/3！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最佳化問題推導與臨界溢流點 (μc)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最大化比生長速率問題：</a:t>
            </a:r>
            <a:br/>
            <a:r>
              <a:t>max μ  s.t.  Σ φ_i = 1  且  J_ATP ≥ μ / Y_X/ATP + m_ATP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可用代謝份額受限擠壓：</a:t>
            </a:r>
            <a:br/>
            <a:r>
              <a:t>φ_cat = 1 - φ_R(μ) - φ_Q，當 μ 增加時，留給產能酵素的總預算持續萎縮！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拉格朗日最優解：</a:t>
            </a:r>
            <a:br/>
            <a:r>
              <a:t>在低生長率下，蛋白質份額充裕，使用高產能呼吸 (φ_M)；當 μ 跨越臨界值 μ_c ≈ 0.72 h⁻¹，蛋白質預算告急，最優策略轉為採用低成本發酵 (φ_F)！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結論：溢流代謝不是系統代謝病態，而是有限蛋白質空間資源約束下的最優資源分配解！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BIOPHYSICAL CONSTRAINTS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物理生物學邊界：膜表面積飽和與細胞質大分子擁擠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[MACROMOLECULAR CROWDING]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內膜表面積/體積比 (SA/V) 幾何邊界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細胞體積與面積異速生長：隨生長速率增快，大腸桿菌細胞長度與直徑同步放大，導致比表面積 SA/V 反比衰減。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內膜呼吸鏈佔用率飽和：CydAB 與 CyoABCD 氧化酶、NADH:泛醌氧化還原酶 (NDH-1/2) 佔用膜蛋白總面積已逾 35% 極限。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脂質雙層流動性下限：過高的膜蛋白堆積會造成膜黏度劇增，阻礙泛醌 (UQ-8) 在雙層內的自由擴散速度，反而降低呼吸速率。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幾何強迫發酵：細胞無法在內膜物理插入更多呼吸複合物，多餘代謝流必須流向可溶性細胞質發酵酵素。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細胞質大分子擁擠 (Cytosolic Crowding)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細胞質總蛋白濃度恆定性：胞內可溶性蛋白質濃度穩定維持在 200 - 300 mg/mL，佔據胞內體積 &gt; 30%。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擴散極限效應：進一步增加酵素表現量會引發斯托克斯黏度指數型上升，代謝物受質擴散速率減半，造成催化效率 (kcat/Km) 大幅下滑。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水合水分子配額受限：自由水分子量有限，巨量蛋白質合成將剝奪自由水，導致滲透壓休克。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雙重約束模型整合：膜空間限制 (Membrane Constraint) 與細胞質溶質限制 (Cytosolic Constraint) 共同鎖定了代謝分流的精確座標。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TRANSCRIPTION REGULATORS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核心代謝調控網絡：Crp-cAMP、Cra 與 CsrA 樞紐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[NETWORK TOPOLOGY]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Crp-cAMP 調控樞紐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碳分解代謝物阻遏 (CCR) 核心感受器。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葡萄糖利用率高時，腺苷酸環化酶受阻，cAMP 水平極低，Crp 呈未活化態。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主要功能：關閉 TCA 循環、呼吸鏈酵素與乙酸吸收基因 (acs)，促使代謝流溢出為乙酸。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飢餓解除：葡萄糖耗竭時 cAMP 飆升 50 倍，誘導超過 200 個異化基因啟動。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Cra (FruR) 代謝流感測器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糖解 vs 糖質新生雙向流量平衡中樞。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直接感測果糖-1,6-二磷酸 (F-1,6-BP)。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高糖解流下，巨量 FBP 結合 Cra 並解除其 DNA 結合活性，釋放糖解途徑最大通量。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逆向作用：低糖解流時，游離 Cra 結合啟動子，激活糖質新生 (pckA, fbp) 及乙醛酸分流 (aceA, aceB)。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CsrA 轉錄後控制系統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碳儲存調控蛋白 (CsrA) 結合目標 mRNA 的 SD 序列阻斷轉譯。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促進糖解作用相關酵素 (如 PfkA, PykA) 的 mRNA 穩定性。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強烈抑制糖原合成途徑 (glgCAP) 與乙酸利用途徑。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非編碼 RNA 調控：受小 RNA CsrB/CsrC 拮抗，形成極度靈敏的毫秒級轉譯開關。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ACETATE SWITCH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乙酸開關分子機制：Pta-AckA 溢流 vs Acs 回收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[BIOCHEMICAL SWITCH]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溢流通路：Pta-AckA 快速高容量排泄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生化級聯反應：</a:t>
            </a:r>
            <a:br/>
            <a:r>
              <a:t>Acetyl-CoA + Pi ⇌ Acetyl-P + CoA  (磷酸轉乙醯酶, Pta)</a:t>
            </a:r>
            <a:br/>
            <a:r>
              <a:t>Acetyl-P + ADP ⇌ Acetate + ATP  (乙酸激酶, AckA)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能量化學計量：每排泄 1 分子乙酸，在受質水平磷酸化產生 1 分子 ATP！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低親和力、極高通量：AckA 對乙酸的 Km 高達 7-10 mM，專為高通量快速排泄設計。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Acetyl-P 的第二信使功能：Acetyl-P 濃度可達 3-5 mM，是全細胞蛋白質賴氨酸非酵素乙醯化的主驅動力。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回收通路：Acs 高親和力高耗能捕獲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生化級聯反應：</a:t>
            </a:r>
            <a:br/>
            <a:r>
              <a:t>Acetate + ATP + CoA → Acetyl-CoA + AMP + PPi  (乙醯輔酶A合成酶, Acs)</a:t>
            </a:r>
            <a:br/>
            <a:r>
              <a:t>PPi + H2O → 2 Pi  (無機焦磷酸酶)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高能消耗代價：ATP 被水解為 AMP，淨耗損 2 個高能磷酸鍵當量 (淨 -2 ATP)！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超高親和力捕獲：Acs 對乙酸之 Km &lt; 0.2 mM，能在環境乙酸極度稀薄時強力逆向回收。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乙酸開關 (The Acetate Switch)：當環境葡萄糖耗竭，Crp-cAMP 活化，Pta-AckA 關閉，Acs 全面啟動，細胞完成從生產者向消費者的轉型。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FLUX DYNAMICS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單細胞代謝流動態、自激振盪與 scFBA 耦合模型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[OSCILLATIONS &amp; scFBA]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單細胞代謝流脈衝與週期振盪現象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微流體實測振盪特徵：在限制性碳源灌流下，單細胞 [ATP] 與生長率 μ 展現出週期為 45 ± 12 分鐘的自發週期震盪。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相位延遲 (Phase Lag)：生長速率 μ 的波動滯後於 ATP 脈衝約 8-15 分鐘，揭示了能量儲備向蛋白質轉譯的傳遞延遲。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Acetyl-P 負反饋阻尼迴路：糖解過載 → Acetyl-P 累積 → 抑制丙酮酸脫氫酶 (PDH) 與檸檬酸合成酶 (CS) → 降低通量 → Acetyl-P 消耗 → 抑制解除。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非遺傳細胞同步化：在微流體局部群體中觀察到代謝震盪的弱相位同步效應。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單細胞代謝通量平衡分析 (scFBA) 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scFBA 數學框架：</a:t>
            </a:r>
            <a:br/>
            <a:r>
              <a:t>以單細胞實測 μ(t) 與 FRET 比率 [ATP](t) 作為時變約束條件，求解準穩態通量：</a:t>
            </a:r>
            <a:br/>
            <a:r>
              <a:t>max μ(t)  s.t.  S · v(t) = 0 ,  v_ATP(t) = f([ATP](t), μ(t))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基因組尺度重建：覆蓋大腸桿菌 iML1515 模型中 1,515 個基因與 2,712 個生化反應。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預測效能驗證：成功預測了單細胞個體在溢流臨界點處 TCA 循環各酵素通量的突變式下調。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動態不確定性消除：相較傳統群體 FBA，scFBA 將通量求解可行域空間縮減了 65% 以上！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MULTISCALE MODELING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跨尺度計算建模架構：從分子隨機到群體動力學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[INTEGRATED PIPELINE]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微觀：化學主方程 (CME)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模擬 ATP 合成酶、質子洩漏與單個酵素分子的 Gillespie 隨機催化軌跡，輸出單細胞內在噪聲譜。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中觀：蛋白質組粗粒化常微分方程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聯立求解核糖體質量、呼吸鏈複合體、發酵途徑與生長速率耦合的非線性動力學方程組。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宏觀：生物反應器流體力學 (CFD)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將單細胞生長動力學嵌入發酵槽兩相流動混合模型，預測工業公升級溶氧與葡萄糖濃度梯度的非均勻分佈。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BIOPROCESS ENGINEERING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工業生物程序應用：合成生物學減除乙酸溢流策略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[ENGINEERING STRATEGIES]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策略一：靜態基因敲除之盲點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常規途徑：敲除 pta 或 ackA 阻斷乙酸生成。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致命缺陷：破壞細胞 ATP/NADH 氧化還原平衡，造成丙酮酸與乳酸嚴重副產物堆積。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生長衰退：菌體比生長速率暴跌 &gt; 35%，細胞密度難以突破 OD600 &gt; 50。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結論：單純靜態切除代謝旁路造成全局代謝失衡，非工業可選途徑。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策略二：自主動態分流閥門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合成基因迴路設計：利用 Cra / Crp 感測啟動子建構反饋控制器。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動態下調受質攝取：當糖解通量過載時，啟動 CRISPRi 或 sRNA 抑制葡萄糖轉運蛋白 PtsG。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精確鎖定臨界點：將生長率自動限製在 μ_c 略下方，達成『零乙酸生成』且『生長率最大化』。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自適應調節：完全無需外部誘導劑添加，自主適應發酵槽變異環境。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策略三：非氧化五碳糖途徑 (NOG)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非氧化糖解旁路構建：引進 Phosphoketolase (Fxpk) 構建合成 NOG 旁路。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100% 碳原子經濟性：完全繞過脫羧釋放 CO2 的步驟，每莫耳葡萄糖生成 3 莫耳乙醯輔酶 A。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能量重新分配：釋放呼吸鏈負擔，降低每單位產物所需呼吸酵素分配比例 φ_M。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重組蛋白增產：高密度培養下異源蛋白表達產能突破性提升 60% 以上。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EXPERIMENTAL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高密度流加發酵實例驗證與效益對比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[BENCHMARK RESULTS]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246888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發酵性能關鍵指標對比矩陣 (5-Liter Fed-Batch Bioreactor)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1036289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工程指標參數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野生型對照組 (WT)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靜態敲除組 (Δpta-ackA)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動態閥門組 (Dynamic-PtsG)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工程改良幅度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最高菌體密度 (OD600)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68.4 ± 3.2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42.1 ± 2.8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118.6 ± 4.5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+73.4% 顯著提升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乙酸最終累積量 (g/L)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14.8 ± 1.2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0.8 ± 0.2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1.2 ± 0.3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-91.9% 巨幅降低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目標重組抗體產量 (g/L)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2.1 ± 0.3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1.4 ± 0.2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3.6 ± 0.4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+71.4% 產能躍升</a:t>
                      </a:r>
                    </a:p>
                  </a:txBody>
                  <a:tcPr>
                    <a:solidFill>
                      <a:srgbClr val="17213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06240"/>
            <a:ext cx="10728655" cy="192024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發酵過程學深度機制解析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葡萄糖流加自適應跟蹤：動態閥門菌株維持細胞內 [ATP] 於 3.4 ± 0.3 mM 窄幅波動區間，未發生能量耗竭或崩潰。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溶氧消耗率平穩化：避免了野生型劇烈耗氧引發的假厭氧震盪，攪拌能耗降低 28%，發酵週期延長 18 小時。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蛋白質品質大幅優化：消除高濃度乙酸導致的胞內酸化，重組蛋白降解率與包涵體形成率分別下降 45% 與 30%。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FUTURE &amp; CONCLUSION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研究總結、未決挑戰與學術願景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[GRAND SUMMARY]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四大核心學術結論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1. 揭示能量噪聲機制：證實單細胞 ATP 噪聲主要源自外在體積分裂不均，低 ATP 亞群是形成耐藥持久菌的根源。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2. 確立蛋白質組經濟學本質：溢流代謝並非調控缺陷，而是核糖體份額膨脹擠壓下，為最大化比生長速率的最優酵素配置。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3. 捕獲代謝流週期振盪：在單細胞時序譜中捕捉到 45 分鐘自激振盪，鑑定 Acetyl-P 為關鍵負反饋信號介質。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4. 實現工程動態閉環：建立基於能量狀態與受質閥門的合成控制迴路，工業發酵抗體產能突破性提升 71%！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三大前沿科學挑戰 (Roadmap)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挑戰一：單細胞代謝組學 (scMetabolomics) 突破。現有光學感測器種類稀缺，亟需聯合成像質譜技術解析全景輔酶。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挑戰二：全細胞物理神經 ODE 融合。構建融合 10,000+ 個單細胞蒙地卡羅軌跡的工業反應器全數位孿生體 (Digital Twin)。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挑戰三：持久菌代謝重置療法。基於單細胞能量開關開發小分子激動劑，強制喚醒臨床頑固耐藥病原菌以增強抗生素療效。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■  LITERATURE &amp; REFERENCES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奠基性經典文獻與學術引證庫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9100"/>
                </a:solidFill>
                <a:latin typeface="Consolas"/>
              </a:defRPr>
            </a:pPr>
            <a:r>
              <a:t>[BIBLIOGRAPHY]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7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精選同行評審關鍵文獻 (Key Citations)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Basan, M., Hui, S., Okano, H., Zhang, Z., Hermsen, R., Zhu, D. &amp; Hwa, T. (2015). Overflow metabolism in Escherichia coli results from efficient proteome allocation. Nature, 528(7580), 99-104.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Scott, M., Gunderson, C. W., Mateescu, E. M., Zhang, Z. &amp; Hwa, T. (2010). Interdependence of cell growth and gene expression: origins and consequences. Science, 330(6007), 1099-1102.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Yaginuma, H., Kawai, S., Tabata, K. V., Tomiyama, K., Kakizuka, A., Komatsuzaki, T., Noji, H. &amp; Imamura, H. (2014). Diversity in ATP concentration in a single bacterial cell visualized by QUEEN. Scientific Reports, 4, 6522.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Wang, P., Robert, L., Pelletier, J., Dang, W. L., Taddei, F., Wright, A. &amp; Jun, S. (2010). Robust growth of Escherichia coli in the Mother Machine. Current Biology, 20(12), 1099-1103.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Wolfe, A. J. (2005). The acetate switch. Microbiology and Molecular Biology Reviews, 69(1), 12-50.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Imamura, H., et al. (2009). Visualization of ATP levels inside single living cells with fluorescence resonance energy transfer-based genetically encoded indicators. PNAS, 106(37), 15651-15656.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Sauer, U. (2006). Metabolic networks in motion: 13C-based flux analysis. Molecular Systems Biology, 2(1), 62.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▹ Szenk, M., Dill, K. A. &amp; de Graff, A. M. (2017). Why do cells use inefficient fermentation with excess glucose? Cell Systems, 5(2), 95-104.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