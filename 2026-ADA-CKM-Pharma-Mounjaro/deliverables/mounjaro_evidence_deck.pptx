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這是一份給醫療專業人員的證據對齊教材；不是處方建議；台灣完整仿單與給付 [TO CONFIRM]。副標註明證據截止 2026-10-29、作者／機構／COI [TO CONFIRM]。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四位病人都問「猛健樂能不能用」——(a) metformin 控制不足的 T2D、(b) 無糖尿病的肥胖、(c) 肥胖伴 HFpEF、(d) T2D 合併 CKD。藥名相同 ≠ 問題相同；答案分別藏在不同分子、不同試驗、不同終點裡。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任何一句「這藥有沒有效」都必須先通過三個對齊：哪個分子（tirzepatide 還是 semaglutide）、哪個族群（T2D／肥胖／HFpEF／CKD，各有定義）、哪個終點（HbA1c／體重／複合 CV-HF／腎複合）。三軸缺一，結論不成立。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tirzepatide 是單一分子的 GIP／GLP-1 dual agonist；semaglutide 是 GLP-1 RA。機制差異存在，但不能由此推導「療效兩倍」或「所有器官均受益」；class effect 不可互套。</a:t>
            </a:r>
          </a:p>
          <a:p/>
          <a:p>
            <a:r>
              <a:t>C001｜Tirzepatide 是單一分子的 GIP/GLP-1 雙受體促效劑；semaglutide 是 GLP-1 受體促效劑</a:t>
            </a:r>
          </a:p>
          <a:p>
            <a:r>
              <a:t>N：不適用</a:t>
            </a:r>
          </a:p>
          <a:p>
            <a:r>
              <a:t>機制；不推導療效為兩倍</a:t>
            </a:r>
          </a:p>
          <a:p>
            <a:r>
              <a:t>族群：藥物機制</a:t>
            </a:r>
          </a:p>
          <a:p>
            <a:r>
              <a:t>邊界：機制示意；不能證明所有器官均受益</a:t>
            </a:r>
          </a:p>
          <a:p>
            <a:r>
              <a:t>限制：不採用萬能鑰匙或保證抗炎的比喻</a:t>
            </a:r>
          </a:p>
          <a:p>
            <a:r>
              <a:t>層級：verified</a:t>
            </a:r>
          </a:p>
          <a:p>
            <a:r>
              <a:t>來源 S07;S02：§12.1；S02 Introduction p.27</a:t>
            </a:r>
          </a:p>
          <a:p>
            <a:r>
              <a:t>https://pi.lilly.com/us/mounjaro-uspi.pdf | https://pubmed.ncbi.nlm.nih.gov/40353578/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美國 USPI 下 Mounjaro 標示為 ≥10 歲 T2D 控糖及成人高 MACE 風險 T2D 的風險降低；Zepbound 標示為成人體重控制及肥胖伴中重度 OSA——兩品牌不可互換引用。台灣 TFDA 2025-11-10 公告確認猛健樂注射筆有血糖控制與肥胖過重體重控制用途，但詳細年齡／BMI／OSA 條件與完整仿單 [TO CONFIRM]（P001）；台灣健保給付 [TO CONFIRM]。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C002｜美國 Mounjaro 與 Zepbound 品牌適應症須分列</a:t>
            </a:r>
          </a:p>
          <a:p>
            <a:r>
              <a:t>N：不適用</a:t>
            </a:r>
          </a:p>
          <a:p>
            <a:r>
              <a:t>Mounjaro：≥10歲T2D控糖、成人高MACE風險T2D風險降低；Zepbound：成人體重控制及肥胖伴中重度OSA</a:t>
            </a:r>
          </a:p>
          <a:p>
            <a:r>
              <a:t>族群：依各品牌標示人群</a:t>
            </a:r>
          </a:p>
          <a:p>
            <a:r>
              <a:t>邊界：僅美國，不能套台灣；08/2026版本</a:t>
            </a:r>
          </a:p>
          <a:p>
            <a:r>
              <a:t>限制：Mounjaro非僅成人控糖；美國標示亦非台灣HFpEF適應症</a:t>
            </a:r>
          </a:p>
          <a:p>
            <a:r>
              <a:t>層級：verified_US_only</a:t>
            </a:r>
          </a:p>
          <a:p>
            <a:r>
              <a:t>來源 S07;S08：USPI §1；均PDF p.1</a:t>
            </a:r>
          </a:p>
          <a:p>
            <a:r>
              <a:t>https://pi.lilly.com/us/mounjaro-uspi.pdf | https://pi.lilly.com/us/zepbound-uspi.pdf</a:t>
            </a:r>
          </a:p>
          <a:p/>
          <a:p>
            <a:r>
              <a:t>C003｜台灣TFDA已確認猛健樂注射筆有血糖控制及肥胖過重體重控制用途</a:t>
            </a:r>
          </a:p>
          <a:p>
            <a:r>
              <a:t>N：不適用</a:t>
            </a:r>
          </a:p>
          <a:p>
            <a:r>
              <a:t>公告2025-11-10</a:t>
            </a:r>
          </a:p>
          <a:p>
            <a:r>
              <a:t>族群：台灣核准用途概述</a:t>
            </a:r>
          </a:p>
          <a:p>
            <a:r>
              <a:t>邊界：可說概括用途；詳細年齡/BMI/OSA須查現行仿單</a:t>
            </a:r>
          </a:p>
          <a:p>
            <a:r>
              <a:t>限制：公告不是完整仿單；勿由USA推導台灣MACE/兒科</a:t>
            </a:r>
          </a:p>
          <a:p>
            <a:r>
              <a:t>層級：verified_scope_only</a:t>
            </a:r>
          </a:p>
          <a:p>
            <a:r>
              <a:t>來源 S09：第一點 Tirzepatide成分注射筆</a:t>
            </a:r>
          </a:p>
          <a:p>
            <a:r>
              <a:t>https://www.fda.gov.tw/TC/newsContent.aspx?cid=4&amp;id=t623895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題快答自我檢核：① tirzepatide 的受體分類？（GIP／GLP-1 dual agonist）② 美國體重控制適應症掛在哪個品牌？（Zepbound）③ TFDA 公告能不能當台灣完整仿單用？（不能，詳細條件 [TO CONFIRM]）。答錯回指 P04／P05。</a:t>
            </a:r>
          </a:p>
          <a:p/>
          <a:p>
            <a:r>
              <a:t>C001｜Tirzepatide 是單一分子的 GIP/GLP-1 雙受體促效劑；semaglutide 是 GLP-1 受體促效劑</a:t>
            </a:r>
          </a:p>
          <a:p>
            <a:r>
              <a:t>N：不適用</a:t>
            </a:r>
          </a:p>
          <a:p>
            <a:r>
              <a:t>機制；不推導療效為兩倍</a:t>
            </a:r>
          </a:p>
          <a:p>
            <a:r>
              <a:t>族群：藥物機制</a:t>
            </a:r>
          </a:p>
          <a:p>
            <a:r>
              <a:t>邊界：機制示意；不能證明所有器官均受益</a:t>
            </a:r>
          </a:p>
          <a:p>
            <a:r>
              <a:t>限制：不採用萬能鑰匙或保證抗炎的比喻</a:t>
            </a:r>
          </a:p>
          <a:p>
            <a:r>
              <a:t>層級：verified</a:t>
            </a:r>
          </a:p>
          <a:p>
            <a:r>
              <a:t>來源 S07;S02：§12.1；S02 Introduction p.27</a:t>
            </a:r>
          </a:p>
          <a:p>
            <a:r>
              <a:t>https://pi.lilly.com/us/mounjaro-uspi.pdf | https://pubmed.ncbi.nlm.nih.gov/40353578/</a:t>
            </a:r>
          </a:p>
          <a:p/>
          <a:p>
            <a:r>
              <a:t>C002｜美國 Mounjaro 與 Zepbound 品牌適應症須分列</a:t>
            </a:r>
          </a:p>
          <a:p>
            <a:r>
              <a:t>N：不適用</a:t>
            </a:r>
          </a:p>
          <a:p>
            <a:r>
              <a:t>Mounjaro：≥10歲T2D控糖、成人高MACE風險T2D風險降低；Zepbound：成人體重控制及肥胖伴中重度OSA</a:t>
            </a:r>
          </a:p>
          <a:p>
            <a:r>
              <a:t>族群：依各品牌標示人群</a:t>
            </a:r>
          </a:p>
          <a:p>
            <a:r>
              <a:t>邊界：僅美國，不能套台灣；08/2026版本</a:t>
            </a:r>
          </a:p>
          <a:p>
            <a:r>
              <a:t>限制：Mounjaro非僅成人控糖；美國標示亦非台灣HFpEF適應症</a:t>
            </a:r>
          </a:p>
          <a:p>
            <a:r>
              <a:t>層級：verified_US_only</a:t>
            </a:r>
          </a:p>
          <a:p>
            <a:r>
              <a:t>來源 S07;S08：USPI §1；均PDF p.1</a:t>
            </a:r>
          </a:p>
          <a:p>
            <a:r>
              <a:t>https://pi.lilly.com/us/mounjaro-uspi.pdf | https://pi.lilly.com/us/zepbound-uspi.pdf</a:t>
            </a:r>
          </a:p>
          <a:p/>
          <a:p>
            <a:r>
              <a:t>C003｜台灣TFDA已確認猛健樂注射筆有血糖控制及肥胖過重體重控制用途</a:t>
            </a:r>
          </a:p>
          <a:p>
            <a:r>
              <a:t>N：不適用</a:t>
            </a:r>
          </a:p>
          <a:p>
            <a:r>
              <a:t>公告2025-11-10</a:t>
            </a:r>
          </a:p>
          <a:p>
            <a:r>
              <a:t>族群：台灣核准用途概述</a:t>
            </a:r>
          </a:p>
          <a:p>
            <a:r>
              <a:t>邊界：可說概括用途；詳細年齡/BMI/OSA須查現行仿單</a:t>
            </a:r>
          </a:p>
          <a:p>
            <a:r>
              <a:t>限制：公告不是完整仿單；勿由USA推導台灣MACE/兒科</a:t>
            </a:r>
          </a:p>
          <a:p>
            <a:r>
              <a:t>層級：verified_scope_only</a:t>
            </a:r>
          </a:p>
          <a:p>
            <a:r>
              <a:t>來源 S09：第一點 Tirzepatide成分注射筆</a:t>
            </a:r>
          </a:p>
          <a:p>
            <a:r>
              <a:t>https://www.fda.gov.tw/TC/newsContent.aspx?cid=4&amp;id=t623895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metformin 治療仍控制不足的 T2D 成人（1879 隨機），40 週 HbA1c 變化 tirzepatide 5／10／15 mg 為 -2.01／-2.24／-2.30 百分點，semaglutide 1 mg 為 -1.86 百分點。這是控糖試驗、對手是 1 mg，不能當作與 semaglutide 2.4 mg 的減重比較；HbA1c 是百分點，不是相對百分比。</a:t>
            </a:r>
          </a:p>
          <a:p/>
          <a:p>
            <a:r>
              <a:t>C004｜SURPASS-2比較的是semaglutide 1 mg</a:t>
            </a:r>
          </a:p>
          <a:p>
            <a:r>
              <a:t>N：1879隨機；1878至少一劑</a:t>
            </a:r>
          </a:p>
          <a:p>
            <a:r>
              <a:t>40週；tirzepatide 5/10/15mg；HbA1c -2.01/-2.24/-2.30百分點，sema1mg -1.86百分點</a:t>
            </a:r>
          </a:p>
          <a:p>
            <a:r>
              <a:t>族群：metformin治療仍控制不足T2D成人</a:t>
            </a:r>
          </a:p>
          <a:p>
            <a:r>
              <a:t>邊界：控糖比較不能替代sema2.4mg減重比較</a:t>
            </a:r>
          </a:p>
          <a:p>
            <a:r>
              <a:t>限制：HbA1c為百分點，不是相對百分比；不推定所有sema劑量</a:t>
            </a:r>
          </a:p>
          <a:p>
            <a:r>
              <a:t>層級：verified</a:t>
            </a:r>
          </a:p>
          <a:p>
            <a:r>
              <a:t>來源 S01：Methods/Results abstract；正文pp.503–505</a:t>
            </a:r>
          </a:p>
          <a:p>
            <a:r>
              <a:t>https://pubmed.ncbi.nlm.nih.gov/34170647/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T2D＋已確立 ASCVD（mITT 13165），tirzepatide ≤15 mg vs dulaglutide 1.5 mg：MACE 12.2% vs 13.1%，HR 0.92（95.3% CI 0.83–1.01）；非劣性成立（界值 1.05，P=.003），優越性未達顯著（P=.09）。不能說勝過 dulaglutide，更不能說勝過 semaglutide；這是 active-comparator 試驗，不是 placebo 試驗。</a:t>
            </a:r>
          </a:p>
          <a:p/>
          <a:p>
            <a:r>
              <a:t>C009｜SURPASS-CVOT已正式發表；MACE非劣性成立，優越性未達顯著</a:t>
            </a:r>
          </a:p>
          <a:p>
            <a:r>
              <a:t>N：13299隨機；排除134；mITT13165（6586/6579）</a:t>
            </a:r>
          </a:p>
          <a:p>
            <a:r>
              <a:t>tirzepatide≤15mg vs dulaglutide1.5mg weekly；MACE801(12.2%) vs862(13.1%)；HR0.92,95.3%CI0.83–1.01；NI P=.003，superiority P=.09</a:t>
            </a:r>
          </a:p>
          <a:p>
            <a:r>
              <a:t>族群：T2D+已確立ASCVD</a:t>
            </a:r>
          </a:p>
          <a:p>
            <a:r>
              <a:t>邊界：不能說勝過dulaglutide或勝過semaglutide；非placebo比較</a:t>
            </a:r>
          </a:p>
          <a:p>
            <a:r>
              <a:t>限制：非劣界值1.05；95.3%不可改95%；Lilly資助</a:t>
            </a:r>
          </a:p>
          <a:p>
            <a:r>
              <a:t>層級：verified</a:t>
            </a:r>
          </a:p>
          <a:p>
            <a:r>
              <a:t>來源 S06：Abstract Methods/Results；NEJM393:2409–2420</a:t>
            </a:r>
          </a:p>
          <a:p>
            <a:r>
              <a:t>https://pubmed.ncbi.nlm.nih.gov/41406444/</a:t>
            </a:r>
          </a:p>
          <a:p/>
          <a:p>
            <a:r>
              <a:t>C004｜SURPASS-2比較的是semaglutide 1 mg</a:t>
            </a:r>
          </a:p>
          <a:p>
            <a:r>
              <a:t>N：1879隨機；1878至少一劑</a:t>
            </a:r>
          </a:p>
          <a:p>
            <a:r>
              <a:t>40週；tirzepatide 5/10/15mg；HbA1c -2.01/-2.24/-2.30百分點，sema1mg -1.86百分點</a:t>
            </a:r>
          </a:p>
          <a:p>
            <a:r>
              <a:t>族群：metformin治療仍控制不足T2D成人</a:t>
            </a:r>
          </a:p>
          <a:p>
            <a:r>
              <a:t>邊界：控糖比較不能替代sema2.4mg減重比較</a:t>
            </a:r>
          </a:p>
          <a:p>
            <a:r>
              <a:t>限制：HbA1c為百分點，不是相對百分比；不推定所有sema劑量</a:t>
            </a:r>
          </a:p>
          <a:p>
            <a:r>
              <a:t>層級：verified</a:t>
            </a:r>
          </a:p>
          <a:p>
            <a:r>
              <a:t>來源 S01：Methods/Results abstract；正文pp.503–505</a:t>
            </a:r>
          </a:p>
          <a:p>
            <a:r>
              <a:t>https://pubmed.ncbi.nlm.nih.gov/34170647/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 T2D 的肥胖／過重成人（751 隨機），72 週體重變化 tirzepatide 10／15 mg -20.2%（95% CI -21.4 至 -19.1）vs semaglutide 1.7／2.4 mg -13.7%（-14.9 至 -12.6），P&lt;.001。這是無糖尿病人群的群體平均，不能保證 T2D／HFpEF 個案同幅減重；本試驗不是心腎 outcome 比較。與 P07 並排提醒：SURPASS-2 用 sema 1 mg、SURMOUNT-5 用 sema 1.7／2.4 mg，兩個 comparator 不可混用。</a:t>
            </a:r>
          </a:p>
          <a:p/>
          <a:p>
            <a:r>
              <a:t>C005｜SURMOUNT-5主要結果限無T2D肥胖/過重成人</a:t>
            </a:r>
          </a:p>
          <a:p>
            <a:r>
              <a:t>N：751隨機；750用藥分析（374/376）</a:t>
            </a:r>
          </a:p>
          <a:p>
            <a:r>
              <a:t>72週；tirzepatide最大耐受10/15mg：-20.2%（95%CI -21.4至-19.1）；sema1.7/2.4mg：-13.7%（-14.9至-12.6）；P&lt;.001</a:t>
            </a:r>
          </a:p>
          <a:p>
            <a:r>
              <a:t>族群：無T2D；BMI≥30或≥27伴相關共病</a:t>
            </a:r>
          </a:p>
          <a:p>
            <a:r>
              <a:t>邊界：群體平均，不能保證T2D/HFpEF個案同幅減重</a:t>
            </a:r>
          </a:p>
          <a:p>
            <a:r>
              <a:t>限制：modified treatment-regimen estimand；廠商Lilly資助；非心腎outcome比較</a:t>
            </a:r>
          </a:p>
          <a:p>
            <a:r>
              <a:t>層級：verified</a:t>
            </a:r>
          </a:p>
          <a:p>
            <a:r>
              <a:t>來源 S02：Abstract；Table2/Fig1 pp.30–31；Methods p.28</a:t>
            </a:r>
          </a:p>
          <a:p>
            <a:r>
              <a:t>https://pubmed.ncbi.nlm.nih.gov/40353578/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無糖尿病肥胖／過重者在 36 週 tirzepatide lead-in 後隨機（670 人）：繼續 tirzepatide 組週 36–88 再減 -5.5%，改安慰劑組回升 +14.0%。訊息不是「停藥必回升 14%」（這是耐受 lead-in 的選擇人群），而是開始治療前就要規劃維持與追蹤策略；也不可用此阻礙急性警訊時的停藥判斷（見 P20）。</a:t>
            </a:r>
          </a:p>
          <a:p/>
          <a:p>
            <a:r>
              <a:t>C019｜停藥後體重可能回升，應預先規劃追蹤</a:t>
            </a:r>
          </a:p>
          <a:p>
            <a:r>
              <a:t>N：783進入lead-in；670隨機（335/335）</a:t>
            </a:r>
          </a:p>
          <a:p>
            <a:r>
              <a:t>先用36週，再52週隨機維持；週36至88：持續tirzepatide -5.5%，改placebo +14.0%</a:t>
            </a:r>
          </a:p>
          <a:p>
            <a:r>
              <a:t>族群：無糖尿病肥胖/過重、可進入隨機期者</a:t>
            </a:r>
          </a:p>
          <a:p>
            <a:r>
              <a:t>邊界：不等於所有人停藥必回升14%；不可當急性警訊停藥的阻礙</a:t>
            </a:r>
          </a:p>
          <a:p>
            <a:r>
              <a:t>限制：耐受lead-in的選擇人群；本輪未完整SAP審核</a:t>
            </a:r>
          </a:p>
          <a:p>
            <a:r>
              <a:t>層級：verified_abstract</a:t>
            </a:r>
          </a:p>
          <a:p>
            <a:r>
              <a:t>來源 S13：Abstract/Results，SURMOUNT-4</a:t>
            </a:r>
          </a:p>
          <a:p>
            <a:r>
              <a:t>https://pmc.ncbi.nlm.nih.gov/articles/PMC10714284/</a:t>
            </a:r>
          </a:p>
          <a:p/>
          <a:p>
            <a:r>
              <a:t>C005｜SURMOUNT-5主要結果限無T2D肥胖/過重成人</a:t>
            </a:r>
          </a:p>
          <a:p>
            <a:r>
              <a:t>N：751隨機；750用藥分析（374/376）</a:t>
            </a:r>
          </a:p>
          <a:p>
            <a:r>
              <a:t>72週；tirzepatide最大耐受10/15mg：-20.2%（95%CI -21.4至-19.1）；sema1.7/2.4mg：-13.7%（-14.9至-12.6）；P&lt;.001</a:t>
            </a:r>
          </a:p>
          <a:p>
            <a:r>
              <a:t>族群：無T2D；BMI≥30或≥27伴相關共病</a:t>
            </a:r>
          </a:p>
          <a:p>
            <a:r>
              <a:t>邊界：群體平均，不能保證T2D/HFpEF個案同幅減重</a:t>
            </a:r>
          </a:p>
          <a:p>
            <a:r>
              <a:t>限制：modified treatment-regimen estimand；廠商Lilly資助；非心腎outcome比較</a:t>
            </a:r>
          </a:p>
          <a:p>
            <a:r>
              <a:t>層級：verified</a:t>
            </a:r>
          </a:p>
          <a:p>
            <a:r>
              <a:t>來源 S02：Abstract；Table2/Fig1 pp.30–31；Methods p.28</a:t>
            </a:r>
          </a:p>
          <a:p>
            <a:r>
              <a:t>https://pubmed.ncbi.nlm.nih.gov/40353578/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BMI≥30、HF、LVEF≥50%（731 人，包含有／無 T2D），中位 104 週：複合終點 9.9% vs 15.3%，HR 0.62（95% CI 0.41–0.95）。但 CV death 單獨為 8 vs 5 件，HR 1.58（95% CI 0.52–4.83）——只能說複合終點獲益，不能說已證實降低 CV 死亡；52 週 KCCQ 是另一共同主要終點。</a:t>
            </a:r>
          </a:p>
          <a:p/>
          <a:p>
            <a:r>
              <a:t>C006｜SUMMIT降低CV death或HF惡化複合終點，不能說已證實單獨降低CV死亡</a:t>
            </a:r>
          </a:p>
          <a:p>
            <a:r>
              <a:t>N：731（364/367）</a:t>
            </a:r>
          </a:p>
          <a:p>
            <a:r>
              <a:t>中位104週；36/364(9.9%) vs56/367(15.3%)；HR0.62,95%CI0.41–0.95；CV death8 vs5，HR1.58,CI0.52–4.83</a:t>
            </a:r>
          </a:p>
          <a:p>
            <a:r>
              <a:t>族群：BMI≥30、HF、LVEF≥50%；包含有/無T2D</a:t>
            </a:r>
          </a:p>
          <a:p>
            <a:r>
              <a:t>邊界：肥胖HFpEF；無法與STEP跨試驗排名</a:t>
            </a:r>
          </a:p>
          <a:p>
            <a:r>
              <a:t>限制：不同終點不可當住院率；CV死亡CI寬；52週KCCQ是另一共同主要終點</a:t>
            </a:r>
          </a:p>
          <a:p>
            <a:r>
              <a:t>層級：verified</a:t>
            </a:r>
          </a:p>
          <a:p>
            <a:r>
              <a:t>來源 S03：Abstract；正文p.427及Table2</a:t>
            </a:r>
          </a:p>
          <a:p>
            <a:r>
              <a:t>https://pubmed.ncbi.nlm.nih.gov/39555826/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T2D＋BMI≥30＋LVEF≥45% 有症狀 HF（616 人），52 週 semaglutide 2.4 mg vs placebo：KCCQ 差 7.3 分（95% CI 4.1–10.4）、體重差 -6.4 百分點（-9.8% vs -3.4%）。證據重點是症狀／功能／體重；不能以此單一試驗宣稱降低 CV 死亡，也不能與 SUMMIT 跨試驗排名。</a:t>
            </a:r>
          </a:p>
          <a:p/>
          <a:p>
            <a:r>
              <a:t>C007｜STEP-HFpEF DM證據重點是症狀/功能與體重</a:t>
            </a:r>
          </a:p>
          <a:p>
            <a:r>
              <a:t>N：616隨機</a:t>
            </a:r>
          </a:p>
          <a:p>
            <a:r>
              <a:t>52週；sema2.4mg vs placebo；KCCQ差7.3分(95%CI4.1–10.4)；體重-9.8% vs-3.4%，差-6.4百分點</a:t>
            </a:r>
          </a:p>
          <a:p>
            <a:r>
              <a:t>族群：T2D、BMI≥30、LVEF≥45%、有症狀HF</a:t>
            </a:r>
          </a:p>
          <a:p>
            <a:r>
              <a:t>邊界：不能以此單一試驗宣稱降低CV死亡或與SUMMIT優劣</a:t>
            </a:r>
          </a:p>
          <a:p>
            <a:r>
              <a:t>限制：primary treatment-policy estimand；Novo Nordisk資助</a:t>
            </a:r>
          </a:p>
          <a:p>
            <a:r>
              <a:t>層級：verified</a:t>
            </a:r>
          </a:p>
          <a:p>
            <a:r>
              <a:t>來源 S04：Abstract；Methods p.1395；Table2</a:t>
            </a:r>
          </a:p>
          <a:p>
            <a:r>
              <a:t>https://pubmed.ncbi.nlm.nih.gov/38587233/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SUMMIT＝tirzepatide／肥胖 HFpEF（可有或無 T2D）／CV-HF 複合＋KCCQ；STEP-HFpEF DM＝semaglutide 2.4 mg／T2D＋HFpEF／症狀功能體重。兩者並存而非互斥，對齊後才知道各自能回答什麼；跨試驗排名在此沒有證據基礎。</a:t>
            </a:r>
          </a:p>
          <a:p/>
          <a:p>
            <a:r>
              <a:t>C006｜SUMMIT降低CV death或HF惡化複合終點，不能說已證實單獨降低CV死亡</a:t>
            </a:r>
          </a:p>
          <a:p>
            <a:r>
              <a:t>N：731（364/367）</a:t>
            </a:r>
          </a:p>
          <a:p>
            <a:r>
              <a:t>中位104週；36/364(9.9%) vs56/367(15.3%)；HR0.62,95%CI0.41–0.95；CV death8 vs5，HR1.58,CI0.52–4.83</a:t>
            </a:r>
          </a:p>
          <a:p>
            <a:r>
              <a:t>族群：BMI≥30、HF、LVEF≥50%；包含有/無T2D</a:t>
            </a:r>
          </a:p>
          <a:p>
            <a:r>
              <a:t>邊界：肥胖HFpEF；無法與STEP跨試驗排名</a:t>
            </a:r>
          </a:p>
          <a:p>
            <a:r>
              <a:t>限制：不同終點不可當住院率；CV死亡CI寬；52週KCCQ是另一共同主要終點</a:t>
            </a:r>
          </a:p>
          <a:p>
            <a:r>
              <a:t>層級：verified</a:t>
            </a:r>
          </a:p>
          <a:p>
            <a:r>
              <a:t>來源 S03：Abstract；正文p.427及Table2</a:t>
            </a:r>
          </a:p>
          <a:p>
            <a:r>
              <a:t>https://pubmed.ncbi.nlm.nih.gov/39555826/</a:t>
            </a:r>
          </a:p>
          <a:p/>
          <a:p>
            <a:r>
              <a:t>C007｜STEP-HFpEF DM證據重點是症狀/功能與體重</a:t>
            </a:r>
          </a:p>
          <a:p>
            <a:r>
              <a:t>N：616隨機</a:t>
            </a:r>
          </a:p>
          <a:p>
            <a:r>
              <a:t>52週；sema2.4mg vs placebo；KCCQ差7.3分(95%CI4.1–10.4)；體重-9.8% vs-3.4%，差-6.4百分點</a:t>
            </a:r>
          </a:p>
          <a:p>
            <a:r>
              <a:t>族群：T2D、BMI≥30、LVEF≥45%、有症狀HF</a:t>
            </a:r>
          </a:p>
          <a:p>
            <a:r>
              <a:t>邊界：不能以此單一試驗宣稱降低CV死亡或與SUMMIT優劣</a:t>
            </a:r>
          </a:p>
          <a:p>
            <a:r>
              <a:t>限制：primary treatment-policy estimand；Novo Nordisk資助</a:t>
            </a:r>
          </a:p>
          <a:p>
            <a:r>
              <a:t>層級：verified</a:t>
            </a:r>
          </a:p>
          <a:p>
            <a:r>
              <a:t>來源 S04：Abstract；Methods p.1395；Table2</a:t>
            </a:r>
          </a:p>
          <a:p>
            <a:r>
              <a:t>https://pubmed.ncbi.nlm.nih.gov/38587233/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題快答：① SUMMIT 能不能說「已證實降低 CV 死亡」？（不能，複合終點獲益，CV death CI 跨 1——回指 P11）② FLOW 是哪個藥的腎臟試驗？（semaglutide——回指 P15）③ SURPASS-2 與 SURMOUNT-5 的 semaglutide 劑量各是多少？（1 mg vs 1.7／2.4 mg，不可混用——回指 P07／P09）。</a:t>
            </a:r>
          </a:p>
          <a:p/>
          <a:p>
            <a:r>
              <a:t>C006｜SUMMIT降低CV death或HF惡化複合終點，不能說已證實單獨降低CV死亡</a:t>
            </a:r>
          </a:p>
          <a:p>
            <a:r>
              <a:t>N：731（364/367）</a:t>
            </a:r>
          </a:p>
          <a:p>
            <a:r>
              <a:t>中位104週；36/364(9.9%) vs56/367(15.3%)；HR0.62,95%CI0.41–0.95；CV death8 vs5，HR1.58,CI0.52–4.83</a:t>
            </a:r>
          </a:p>
          <a:p>
            <a:r>
              <a:t>族群：BMI≥30、HF、LVEF≥50%；包含有/無T2D</a:t>
            </a:r>
          </a:p>
          <a:p>
            <a:r>
              <a:t>邊界：肥胖HFpEF；無法與STEP跨試驗排名</a:t>
            </a:r>
          </a:p>
          <a:p>
            <a:r>
              <a:t>限制：不同終點不可當住院率；CV死亡CI寬；52週KCCQ是另一共同主要終點</a:t>
            </a:r>
          </a:p>
          <a:p>
            <a:r>
              <a:t>層級：verified</a:t>
            </a:r>
          </a:p>
          <a:p>
            <a:r>
              <a:t>來源 S03：Abstract；正文p.427及Table2</a:t>
            </a:r>
          </a:p>
          <a:p>
            <a:r>
              <a:t>https://pubmed.ncbi.nlm.nih.gov/39555826/</a:t>
            </a:r>
          </a:p>
          <a:p/>
          <a:p>
            <a:r>
              <a:t>C008｜FLOW為semaglutide而非tirzepatide的腎臟outcome試驗</a:t>
            </a:r>
          </a:p>
          <a:p>
            <a:r>
              <a:t>N：3533（1767/1766）</a:t>
            </a:r>
          </a:p>
          <a:p>
            <a:r>
              <a:t>中位3.4年；sema1mg vs placebo；主要複合331 vs410事件；HR0.76,95%CI0.66–0.88,P=.0003</a:t>
            </a:r>
          </a:p>
          <a:p>
            <a:r>
              <a:t>族群：T2D+CKD：eGFR50–75/UACR&gt;300至&lt;5000，或eGFR25至&lt;50/UACR&gt;100至&lt;5000</a:t>
            </a:r>
          </a:p>
          <a:p>
            <a:r>
              <a:t>邊界：腎主要複合含CV death；不能轉成tirzepatide class effect</a:t>
            </a:r>
          </a:p>
          <a:p>
            <a:r>
              <a:t>限制：不能稱所有CKD或透析患者的證據；Novo Nordisk資助</a:t>
            </a:r>
          </a:p>
          <a:p>
            <a:r>
              <a:t>層級：verified</a:t>
            </a:r>
          </a:p>
          <a:p>
            <a:r>
              <a:t>來源 S05：Abstract Methods/Results；NEJM pp.109–121</a:t>
            </a:r>
          </a:p>
          <a:p>
            <a:r>
              <a:t>https://pubmed.ncbi.nlm.nih.gov/38785209/</a:t>
            </a:r>
          </a:p>
          <a:p/>
          <a:p>
            <a:r>
              <a:t>C004｜SURPASS-2比較的是semaglutide 1 mg</a:t>
            </a:r>
          </a:p>
          <a:p>
            <a:r>
              <a:t>N：1879隨機；1878至少一劑</a:t>
            </a:r>
          </a:p>
          <a:p>
            <a:r>
              <a:t>40週；tirzepatide 5/10/15mg；HbA1c -2.01/-2.24/-2.30百分點，sema1mg -1.86百分點</a:t>
            </a:r>
          </a:p>
          <a:p>
            <a:r>
              <a:t>族群：metformin治療仍控制不足T2D成人</a:t>
            </a:r>
          </a:p>
          <a:p>
            <a:r>
              <a:t>邊界：控糖比較不能替代sema2.4mg減重比較</a:t>
            </a:r>
          </a:p>
          <a:p>
            <a:r>
              <a:t>限制：HbA1c為百分點，不是相對百分比；不推定所有sema劑量</a:t>
            </a:r>
          </a:p>
          <a:p>
            <a:r>
              <a:t>層級：verified</a:t>
            </a:r>
          </a:p>
          <a:p>
            <a:r>
              <a:t>來源 S01：Methods/Results abstract；正文pp.503–505</a:t>
            </a:r>
          </a:p>
          <a:p>
            <a:r>
              <a:t>https://pubmed.ncbi.nlm.nih.gov/34170647/</a:t>
            </a:r>
          </a:p>
          <a:p/>
          <a:p>
            <a:r>
              <a:t>C005｜SURMOUNT-5主要結果限無T2D肥胖/過重成人</a:t>
            </a:r>
          </a:p>
          <a:p>
            <a:r>
              <a:t>N：751隨機；750用藥分析（374/376）</a:t>
            </a:r>
          </a:p>
          <a:p>
            <a:r>
              <a:t>72週；tirzepatide最大耐受10/15mg：-20.2%（95%CI -21.4至-19.1）；sema1.7/2.4mg：-13.7%（-14.9至-12.6）；P&lt;.001</a:t>
            </a:r>
          </a:p>
          <a:p>
            <a:r>
              <a:t>族群：無T2D；BMI≥30或≥27伴相關共病</a:t>
            </a:r>
          </a:p>
          <a:p>
            <a:r>
              <a:t>邊界：群體平均，不能保證T2D/HFpEF個案同幅減重</a:t>
            </a:r>
          </a:p>
          <a:p>
            <a:r>
              <a:t>限制：modified treatment-regimen estimand；廠商Lilly資助；非心腎outcome比較</a:t>
            </a:r>
          </a:p>
          <a:p>
            <a:r>
              <a:t>層級：verified</a:t>
            </a:r>
          </a:p>
          <a:p>
            <a:r>
              <a:t>來源 S02：Abstract；Table2/Fig1 pp.30–31；Methods p.28</a:t>
            </a:r>
          </a:p>
          <a:p>
            <a:r>
              <a:t>https://pubmed.ncbi.nlm.nih.gov/40353578/</a:t>
            </a:r>
          </a:p>
          <a:p/>
          <a:p>
            <a:r>
              <a:t>C007｜STEP-HFpEF DM證據重點是症狀/功能與體重</a:t>
            </a:r>
          </a:p>
          <a:p>
            <a:r>
              <a:t>N：616隨機</a:t>
            </a:r>
          </a:p>
          <a:p>
            <a:r>
              <a:t>52週；sema2.4mg vs placebo；KCCQ差7.3分(95%CI4.1–10.4)；體重-9.8% vs-3.4%，差-6.4百分點</a:t>
            </a:r>
          </a:p>
          <a:p>
            <a:r>
              <a:t>族群：T2D、BMI≥30、LVEF≥45%、有症狀HF</a:t>
            </a:r>
          </a:p>
          <a:p>
            <a:r>
              <a:t>邊界：不能以此單一試驗宣稱降低CV死亡或與SUMMIT優劣</a:t>
            </a:r>
          </a:p>
          <a:p>
            <a:r>
              <a:t>限制：primary treatment-policy estimand；Novo Nordisk資助</a:t>
            </a:r>
          </a:p>
          <a:p>
            <a:r>
              <a:t>層級：verified</a:t>
            </a:r>
          </a:p>
          <a:p>
            <a:r>
              <a:t>來源 S04：Abstract；Methods p.1395；Table2</a:t>
            </a:r>
          </a:p>
          <a:p>
            <a:r>
              <a:t>https://pubmed.ncbi.nlm.nih.gov/38587233/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T2D＋CKD（3533 人，eGFR／UACR 雙軌收案），中位 3.4 年：腎主要複合（含 CV death）HR 0.76（95% CI 0.66–0.88，P=.0003）。這個結果不能轉成 tirzepatide 的 class effect；也不代表所有 CKD 或透析患者的證據。</a:t>
            </a:r>
          </a:p>
          <a:p/>
          <a:p>
            <a:r>
              <a:t>C008｜FLOW為semaglutide而非tirzepatide的腎臟outcome試驗</a:t>
            </a:r>
          </a:p>
          <a:p>
            <a:r>
              <a:t>N：3533（1767/1766）</a:t>
            </a:r>
          </a:p>
          <a:p>
            <a:r>
              <a:t>中位3.4年；sema1mg vs placebo；主要複合331 vs410事件；HR0.76,95%CI0.66–0.88,P=.0003</a:t>
            </a:r>
          </a:p>
          <a:p>
            <a:r>
              <a:t>族群：T2D+CKD：eGFR50–75/UACR&gt;300至&lt;5000，或eGFR25至&lt;50/UACR&gt;100至&lt;5000</a:t>
            </a:r>
          </a:p>
          <a:p>
            <a:r>
              <a:t>邊界：腎主要複合含CV death；不能轉成tirzepatide class effect</a:t>
            </a:r>
          </a:p>
          <a:p>
            <a:r>
              <a:t>限制：不能稱所有CKD或透析患者的證據；Novo Nordisk資助</a:t>
            </a:r>
          </a:p>
          <a:p>
            <a:r>
              <a:t>層級：verified</a:t>
            </a:r>
          </a:p>
          <a:p>
            <a:r>
              <a:t>來源 S05：Abstract Methods/Results；NEJM pp.109–121</a:t>
            </a:r>
          </a:p>
          <a:p>
            <a:r>
              <a:t>https://pubmed.ncbi.nlm.nih.gov/38785209/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出刊的 SURPASS-CVOT 預定探索性腎臟分析（mITT 13165，中位 4.0 年）：腎複合 6.0% vs 7.6%，HR 0.77（95% CI 0.68–0.88，P=.0002）。但它是探索性分析、腎複合定義與 FLOW 不同（含新發持續 macroalbuminuria）、不是新的獨立 RCT——可以報告訊號，不能升格 confirmatory。</a:t>
            </a:r>
          </a:p>
          <a:p/>
          <a:p>
            <a:r>
              <a:t>C010｜2026 SURPASS-CVOT腎臟分析已出刊，但屬探索性</a:t>
            </a:r>
          </a:p>
          <a:p>
            <a:r>
              <a:t>N：13299隨機、mITT13165；腎指標可用N各有不同</a:t>
            </a:r>
          </a:p>
          <a:p>
            <a:r>
              <a:t>中位4.0年；腎複合396(6.0%) vs498(7.6%)；HR0.77,95%CI0.68–0.88；p=.0002</a:t>
            </a:r>
          </a:p>
          <a:p>
            <a:r>
              <a:t>族群：T2D+ASCVD；腎複合含新發持續macroalbuminuria</a:t>
            </a:r>
          </a:p>
          <a:p>
            <a:r>
              <a:t>邊界：不能與FLOW的複合終點等同，也不是新獨立RCT</a:t>
            </a:r>
          </a:p>
          <a:p>
            <a:r>
              <a:t>限制：未完成全文/SAP multiplicity審核；主簡報僅標探索性更新，不升格confirmatory</a:t>
            </a:r>
          </a:p>
          <a:p>
            <a:r>
              <a:t>層級：verified_abstract</a:t>
            </a:r>
          </a:p>
          <a:p>
            <a:r>
              <a:t>來源 S12：PubMed abstract Methods/Findings</a:t>
            </a:r>
          </a:p>
          <a:p>
            <a:r>
              <a:t>https://pubmed.ncbi.nlm.nih.gov/42114520/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美國 USPI 警示：嚴重 GI 反應（持續嘔吐／腹瀉）或攝水不足可致體液流失與急性腎損傷（AKI），已有腎病或易脫水者需評估體液與腎功能；嚴重 gastroparesis 不建議使用。「renal PK 不調量」不等於「腎臟完全安全」；台灣版本文句 [TO CONFIRM]（P001）。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C013｜嚴重GI反應可致體液流失與AKI</a:t>
            </a:r>
          </a:p>
          <a:p>
            <a:r>
              <a:t>N：不適用</a:t>
            </a:r>
          </a:p>
          <a:p>
            <a:r>
              <a:t>持續嘔吐/腹瀉或攝水不足需評估體液與腎功能；嚴重gastroparesis不建議</a:t>
            </a:r>
          </a:p>
          <a:p>
            <a:r>
              <a:t>族群：尤其已有腎病或易脫水者</a:t>
            </a:r>
          </a:p>
          <a:p>
            <a:r>
              <a:t>邊界：一般安全溝通；台灣版本待核</a:t>
            </a:r>
          </a:p>
          <a:p>
            <a:r>
              <a:t>限制：不能因為renal PK不需調量就聲稱腎臟完全安全</a:t>
            </a:r>
          </a:p>
          <a:p>
            <a:r>
              <a:t>層級：verified_US_only</a:t>
            </a:r>
          </a:p>
          <a:p>
            <a:r>
              <a:t>來源 S07：§5.5–5.6 PDF pp.4–5</a:t>
            </a:r>
          </a:p>
          <a:p>
            <a:r>
              <a:t>https://pi.lilly.com/us/mounjaro-uspi.pdf</a:t>
            </a:r>
          </a:p>
          <a:p/>
          <a:p>
            <a:r>
              <a:t>C008｜FLOW為semaglutide而非tirzepatide的腎臟outcome試驗</a:t>
            </a:r>
          </a:p>
          <a:p>
            <a:r>
              <a:t>N：3533（1767/1766）</a:t>
            </a:r>
          </a:p>
          <a:p>
            <a:r>
              <a:t>中位3.4年；sema1mg vs placebo；主要複合331 vs410事件；HR0.76,95%CI0.66–0.88,P=.0003</a:t>
            </a:r>
          </a:p>
          <a:p>
            <a:r>
              <a:t>族群：T2D+CKD：eGFR50–75/UACR&gt;300至&lt;5000，或eGFR25至&lt;50/UACR&gt;100至&lt;5000</a:t>
            </a:r>
          </a:p>
          <a:p>
            <a:r>
              <a:t>邊界：腎主要複合含CV death；不能轉成tirzepatide class effect</a:t>
            </a:r>
          </a:p>
          <a:p>
            <a:r>
              <a:t>限制：不能稱所有CKD或透析患者的證據；Novo Nordisk資助</a:t>
            </a:r>
          </a:p>
          <a:p>
            <a:r>
              <a:t>層級：verified</a:t>
            </a:r>
          </a:p>
          <a:p>
            <a:r>
              <a:t>來源 S05：Abstract Methods/Results；NEJM pp.109–121</a:t>
            </a:r>
          </a:p>
          <a:p>
            <a:r>
              <a:t>https://pubmed.ncbi.nlm.nih.gov/38785209/</a:t>
            </a:r>
          </a:p>
          <a:p/>
          <a:p>
            <a:r>
              <a:t>C010｜2026 SURPASS-CVOT腎臟分析已出刊，但屬探索性</a:t>
            </a:r>
          </a:p>
          <a:p>
            <a:r>
              <a:t>N：13299隨機、mITT13165；腎指標可用N各有不同</a:t>
            </a:r>
          </a:p>
          <a:p>
            <a:r>
              <a:t>中位4.0年；腎複合396(6.0%) vs498(7.6%)；HR0.77,95%CI0.68–0.88；p=.0002</a:t>
            </a:r>
          </a:p>
          <a:p>
            <a:r>
              <a:t>族群：T2D+ASCVD；腎複合含新發持續macroalbuminuria</a:t>
            </a:r>
          </a:p>
          <a:p>
            <a:r>
              <a:t>邊界：不能與FLOW的複合終點等同，也不是新獨立RCT</a:t>
            </a:r>
          </a:p>
          <a:p>
            <a:r>
              <a:t>限制：未完成全文/SAP multiplicity審核；主簡報僅標探索性更新，不升格confirmatory</a:t>
            </a:r>
          </a:p>
          <a:p>
            <a:r>
              <a:t>層級：verified_abstract</a:t>
            </a:r>
          </a:p>
          <a:p>
            <a:r>
              <a:t>來源 S12：PubMed abstract Methods/Findings</a:t>
            </a:r>
          </a:p>
          <a:p>
            <a:r>
              <a:t>https://pubmed.ncbi.nlm.nih.gov/42114520/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美國 USPI 成人劑量 2.5 mg weekly 起始，需要時每次增 2.5 mg、當前劑量至少維持 4 週，最大 15 mg weekly；KwikPen 為固定劑量設計（每筆 4 個固定 weekly doses），格數算術不等於核准可拆劑方法。明確排除：原研讀素材中的拆筆格數換算、跳級（如 5→10 mg 跳過 7.5 mg）、同週拼筆、採購省錢方案，均不進入本教材。台灣劑量圖與器型 IFU [TO CONFIRM]（P001）；不是人人需達 15 mg。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C011｜美國成人劑量由2.5mg起、按耐受與目標逐步調整</a:t>
            </a:r>
          </a:p>
          <a:p>
            <a:r>
              <a:t>N：不適用</a:t>
            </a:r>
          </a:p>
          <a:p>
            <a:r>
              <a:t>2.5mg weekly；需要時每次增2.5mg，當前劑量至少4週；成人最大15mg weekly</a:t>
            </a:r>
          </a:p>
          <a:p>
            <a:r>
              <a:t>族群：美國成人T2D</a:t>
            </a:r>
          </a:p>
          <a:p>
            <a:r>
              <a:t>邊界：台灣完整仿單核實前不作個別處方或臺灣劑量圖</a:t>
            </a:r>
          </a:p>
          <a:p>
            <a:r>
              <a:t>限制：不採原ZIP 5→10mg跳級或同週拼筆；不是人人需達15mg</a:t>
            </a:r>
          </a:p>
          <a:p>
            <a:r>
              <a:t>層級：verified_US_only</a:t>
            </a:r>
          </a:p>
          <a:p>
            <a:r>
              <a:t>來源 S07：§2.1 PDF p.3</a:t>
            </a:r>
          </a:p>
          <a:p>
            <a:r>
              <a:t>https://pi.lilly.com/us/mounjaro-uspi.pdf</a:t>
            </a:r>
          </a:p>
          <a:p/>
          <a:p>
            <a:r>
              <a:t>C018｜KwikPen為固定劑量；格數算術不等於核准可拆劑方法</a:t>
            </a:r>
          </a:p>
          <a:p>
            <a:r>
              <a:t>N：不適用</a:t>
            </a:r>
          </a:p>
          <a:p>
            <a:r>
              <a:t>每支KwikPen含4個標示劑量；單一病人使用且不得共享</a:t>
            </a:r>
          </a:p>
          <a:p>
            <a:r>
              <a:t>族群：USA對應KwikPen</a:t>
            </a:r>
          </a:p>
          <a:p>
            <a:r>
              <a:t>邊界：反駁筆記教學；台灣操作需拿到同器型核准IFU</a:t>
            </a:r>
          </a:p>
          <a:p>
            <a:r>
              <a:t>限制：不轉載格數換算、抽殘藥、延長一筆8週之教學；UK IFU本次未取得</a:t>
            </a:r>
          </a:p>
          <a:p>
            <a:r>
              <a:t>層級：verified_US_only</a:t>
            </a:r>
          </a:p>
          <a:p>
            <a:r>
              <a:t>來源 S07：USPI §2.2/3 PDF pp.3–4；§5.10 PDF p.6</a:t>
            </a:r>
          </a:p>
          <a:p>
            <a:r>
              <a:t>https://pi.lilly.com/us/mounjaro-uspi.pdf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美國 USPI 禁忌為 MTC（medullary thyroid carcinoma）個人／家族史、MEN2 與嚴重過敏；人類 MTC 風險尚未確立（rodent 訊號，不得寫成人類已證實）。「禁忌」與「不建議使用」（如嚴重 gastroparesis）不能混同；台灣禁忌文句以核准仿單為準 [TO CONFIRM]（P001）。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C012｜MTC個人/家族史、MEN2與嚴重過敏是美國標示禁忌</a:t>
            </a:r>
          </a:p>
          <a:p>
            <a:r>
              <a:t>N：不適用</a:t>
            </a:r>
          </a:p>
          <a:p>
            <a:r>
              <a:t>人類MTC風險尚未確立；rodent訊號</a:t>
            </a:r>
          </a:p>
          <a:p>
            <a:r>
              <a:t>族群：依美國標示</a:t>
            </a:r>
          </a:p>
          <a:p>
            <a:r>
              <a:t>邊界：衛教需先核對台灣仿單；勿把rodent致癌寫成人類已證實</a:t>
            </a:r>
          </a:p>
          <a:p>
            <a:r>
              <a:t>限制：禁忌與不建議使用不能混同</a:t>
            </a:r>
          </a:p>
          <a:p>
            <a:r>
              <a:t>層級：verified_US_only</a:t>
            </a:r>
          </a:p>
          <a:p>
            <a:r>
              <a:t>來源 S07：§4/5.1 PDF p.4</a:t>
            </a:r>
          </a:p>
          <a:p>
            <a:r>
              <a:t>https://pi.lilly.com/us/mounjaro-uspi.pdf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持續嚴重腹痛（疑胰臟炎）或呼吸／顏面腫脹（嚴重過敏）應停藥並立即接受評估；急性膽囊疾病與視網膜病變併發亦需說明。警訊語句用於專業溝通，病人版措辭需醫師審核；不提供自我診斷或自行重啟建議；台灣文句 [TO CONFIRM]（P001）。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C017｜疑胰臟炎或嚴重過敏應停藥並立即求醫</a:t>
            </a:r>
          </a:p>
          <a:p>
            <a:r>
              <a:t>N：不適用</a:t>
            </a:r>
          </a:p>
          <a:p>
            <a:r>
              <a:t>持續嚴重腹痛、呼吸/顏面腫脹等需緊急評估</a:t>
            </a:r>
          </a:p>
          <a:p>
            <a:r>
              <a:t>族群：用藥者</a:t>
            </a:r>
          </a:p>
          <a:p>
            <a:r>
              <a:t>邊界：病人警訊語句需醫師審核；非自我診斷工具</a:t>
            </a:r>
          </a:p>
          <a:p>
            <a:r>
              <a:t>限制：急性膽囊、視網膜病變亦須說明；不可擅用重啟建議</a:t>
            </a:r>
          </a:p>
          <a:p>
            <a:r>
              <a:t>層級：verified_US_only</a:t>
            </a:r>
          </a:p>
          <a:p>
            <a:r>
              <a:t>來源 S07：§5.2/5.4 PDF p.4</a:t>
            </a:r>
          </a:p>
          <a:p>
            <a:r>
              <a:t>https://pi.lilly.com/us/mounjaro-uspi.pdf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合併 insulin 或 sulfonylurea 等 secretagogue 會增加低血糖風險，可能需要減少併藥劑量，且調整應由醫療團隊決定；不能說單藥零低血糖，也不提供通用減量百分比，病人勿自行減藥；台灣文句 [TO CONFIRM]（P001）。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C014｜合併insulin或sulfonylurea等secretagogue增加低血糖風險</a:t>
            </a:r>
          </a:p>
          <a:p>
            <a:r>
              <a:t>N：不適用</a:t>
            </a:r>
          </a:p>
          <a:p>
            <a:r>
              <a:t>可能需減少併藥，由醫療團隊調整</a:t>
            </a:r>
          </a:p>
          <a:p>
            <a:r>
              <a:t>族群：合併治療者</a:t>
            </a:r>
          </a:p>
          <a:p>
            <a:r>
              <a:t>邊界：不能說單藥零低血糖；病人勿自行減藥</a:t>
            </a:r>
          </a:p>
          <a:p>
            <a:r>
              <a:t>限制：不提供通用減量百分比</a:t>
            </a:r>
          </a:p>
          <a:p>
            <a:r>
              <a:t>層級：verified_US_only</a:t>
            </a:r>
          </a:p>
          <a:p>
            <a:r>
              <a:t>來源 S07：§5.3 PDF p.4</a:t>
            </a:r>
          </a:p>
          <a:p>
            <a:r>
              <a:t>https://pi.lilly.com/us/mounjaro-uspi.pdf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胃排空延遲有兩個具體後果——(a) 口服荷爾蒙避孕藥效力可能降低：開始用藥及每次升量後 4 週應改非口服方法或加屏障法；(b) 麻醉／深鎮靜有吸入（aspiration）風險，應預先告知手術／麻醉團隊，且沒有通用仿單停藥天數（USPI 稱資料不足以判定暫停藥能否降低風險），不得自行套用固定停藥規則。妊娠計畫停藥間隔與台灣麻醉流程 [TO CONFIRM]（P003）。</a:t>
            </a:r>
          </a:p>
          <a:p/>
          <a:p>
            <a:r>
              <a:t>P003｜妊娠計畫停藥間隔與臺灣現行麻醉流程</a:t>
            </a:r>
          </a:p>
          <a:p>
            <a:r>
              <a:t>N：不適用</a:t>
            </a:r>
          </a:p>
          <a:p>
            <a:r>
              <a:t>不提供統一停藥天數；由處方/麻醉團隊制定</a:t>
            </a:r>
          </a:p>
          <a:p>
            <a:r>
              <a:t>族群：妊娠或程序規劃者</a:t>
            </a:r>
          </a:p>
          <a:p>
            <a:r>
              <a:t>邊界：未通過前只保留諮詢提醒</a:t>
            </a:r>
          </a:p>
          <a:p>
            <a:r>
              <a:t>限制：不從半衰期自行計算臨床停藥方案</a:t>
            </a:r>
          </a:p>
          <a:p>
            <a:r>
              <a:t>層級：pending</a:t>
            </a:r>
          </a:p>
          <a:p>
            <a:r>
              <a:t>來源 S07;S14：§8.1/5.9及台灣指引待補</a:t>
            </a:r>
          </a:p>
          <a:p>
            <a:r>
              <a:t>https://pi.lilly.com/us/mounjaro-uspi.pdf | https://www.hosp.nycu.edu.tw/departments/dep-support/pharmacy/drog-use-search/10388-%E7%8C%9B%E5%81%A5%E6%A8%82%E7%AD%8610%E6%AF%AB%E5%85%8B-0-6%E6%AF%AB%E5%8D%87.html</a:t>
            </a:r>
          </a:p>
          <a:p/>
          <a:p>
            <a:r>
              <a:t>C015｜口服荷爾蒙避孕藥可能因胃排空延遲降低效力</a:t>
            </a:r>
          </a:p>
          <a:p>
            <a:r>
              <a:t>N：不適用</a:t>
            </a:r>
          </a:p>
          <a:p>
            <a:r>
              <a:t>開始及每次升量後4週：改非口服方法或加屏障法</a:t>
            </a:r>
          </a:p>
          <a:p>
            <a:r>
              <a:t>族群：使用口服荷爾蒙避孕藥者</a:t>
            </a:r>
          </a:p>
          <a:p>
            <a:r>
              <a:t>邊界：USA標示；不得外推全部避孕方式失效</a:t>
            </a:r>
          </a:p>
          <a:p>
            <a:r>
              <a:t>限制：台灣正式文句及生育計畫停藥期未核完</a:t>
            </a:r>
          </a:p>
          <a:p>
            <a:r>
              <a:t>層級：verified_US_only</a:t>
            </a:r>
          </a:p>
          <a:p>
            <a:r>
              <a:t>來源 S07：§7.2/8.3 PDF pp.10–11</a:t>
            </a:r>
          </a:p>
          <a:p>
            <a:r>
              <a:t>https://pi.lilly.com/us/mounjaro-uspi.pdf</a:t>
            </a:r>
          </a:p>
          <a:p/>
          <a:p>
            <a:r>
              <a:t>C016｜麻醉/深鎮靜有吸入風險，沒有通用仿單停藥天數</a:t>
            </a:r>
          </a:p>
          <a:p>
            <a:r>
              <a:t>N：不適用</a:t>
            </a:r>
          </a:p>
          <a:p>
            <a:r>
              <a:t>應預先告知手術/麻醉團隊；USPI稱資料不足判定暫停藥能否降低胃殘留風險</a:t>
            </a:r>
          </a:p>
          <a:p>
            <a:r>
              <a:t>族群：預定麻醉/深鎮靜者</a:t>
            </a:r>
          </a:p>
          <a:p>
            <a:r>
              <a:t>邊界：依當地程序與個別症狀風險；非一律停7天</a:t>
            </a:r>
          </a:p>
          <a:p>
            <a:r>
              <a:t>限制：本輪未審核台灣麻醉指引；不得自行套2023固定停藥規則</a:t>
            </a:r>
          </a:p>
          <a:p>
            <a:r>
              <a:t>層級：verified_US_only</a:t>
            </a:r>
          </a:p>
          <a:p>
            <a:r>
              <a:t>來源 S07：§5.9 PDF p.6</a:t>
            </a:r>
          </a:p>
          <a:p>
            <a:r>
              <a:t>https://pi.lilly.com/us/mounjaro-uspi.pdf</a:t>
            </a:r>
          </a:p>
          <a:p/>
          <a:p>
            <a:r>
              <a:t>C011｜美國成人劑量由2.5mg起、按耐受與目標逐步調整</a:t>
            </a:r>
          </a:p>
          <a:p>
            <a:r>
              <a:t>N：不適用</a:t>
            </a:r>
          </a:p>
          <a:p>
            <a:r>
              <a:t>2.5mg weekly；需要時每次增2.5mg，當前劑量至少4週；成人最大15mg weekly</a:t>
            </a:r>
          </a:p>
          <a:p>
            <a:r>
              <a:t>族群：美國成人T2D</a:t>
            </a:r>
          </a:p>
          <a:p>
            <a:r>
              <a:t>邊界：台灣完整仿單核實前不作個別處方或臺灣劑量圖</a:t>
            </a:r>
          </a:p>
          <a:p>
            <a:r>
              <a:t>限制：不採原ZIP 5→10mg跳級或同週拼筆；不是人人需達15mg</a:t>
            </a:r>
          </a:p>
          <a:p>
            <a:r>
              <a:t>層級：verified_US_only</a:t>
            </a:r>
          </a:p>
          <a:p>
            <a:r>
              <a:t>來源 S07：§2.1 PDF p.3</a:t>
            </a:r>
          </a:p>
          <a:p>
            <a:r>
              <a:t>https://pi.lilly.com/us/mounjaro-uspi.pdf</a:t>
            </a:r>
          </a:p>
          <a:p/>
          <a:p>
            <a:r>
              <a:t>C018｜KwikPen為固定劑量；格數算術不等於核准可拆劑方法</a:t>
            </a:r>
          </a:p>
          <a:p>
            <a:r>
              <a:t>N：不適用</a:t>
            </a:r>
          </a:p>
          <a:p>
            <a:r>
              <a:t>每支KwikPen含4個標示劑量；單一病人使用且不得共享</a:t>
            </a:r>
          </a:p>
          <a:p>
            <a:r>
              <a:t>族群：USA對應KwikPen</a:t>
            </a:r>
          </a:p>
          <a:p>
            <a:r>
              <a:t>邊界：反駁筆記教學；台灣操作需拿到同器型核准IFU</a:t>
            </a:r>
          </a:p>
          <a:p>
            <a:r>
              <a:t>限制：不轉載格數換算、抽殘藥、延長一筆8週之教學；UK IFU本次未取得</a:t>
            </a:r>
          </a:p>
          <a:p>
            <a:r>
              <a:t>層級：verified_US_only</a:t>
            </a:r>
          </a:p>
          <a:p>
            <a:r>
              <a:t>來源 S07：USPI §2.2/3 PDF pp.3–4；§5.10 PDF p.6</a:t>
            </a:r>
          </a:p>
          <a:p>
            <a:r>
              <a:t>https://pi.lilly.com/us/mounjaro-uspi.pdf</a:t>
            </a:r>
          </a:p>
          <a:p/>
          <a:p>
            <a:r>
              <a:t>C012｜MTC個人/家族史、MEN2與嚴重過敏是美國標示禁忌</a:t>
            </a:r>
          </a:p>
          <a:p>
            <a:r>
              <a:t>N：不適用</a:t>
            </a:r>
          </a:p>
          <a:p>
            <a:r>
              <a:t>人類MTC風險尚未確立；rodent訊號</a:t>
            </a:r>
          </a:p>
          <a:p>
            <a:r>
              <a:t>族群：依美國標示</a:t>
            </a:r>
          </a:p>
          <a:p>
            <a:r>
              <a:t>邊界：衛教需先核對台灣仿單；勿把rodent致癌寫成人類已證實</a:t>
            </a:r>
          </a:p>
          <a:p>
            <a:r>
              <a:t>限制：禁忌與不建議使用不能混同</a:t>
            </a:r>
          </a:p>
          <a:p>
            <a:r>
              <a:t>層級：verified_US_only</a:t>
            </a:r>
          </a:p>
          <a:p>
            <a:r>
              <a:t>來源 S07：§4/5.1 PDF p.4</a:t>
            </a:r>
          </a:p>
          <a:p>
            <a:r>
              <a:t>https://pi.lilly.com/us/mounjaro-uspi.pdf</a:t>
            </a:r>
          </a:p>
          <a:p/>
          <a:p>
            <a:r>
              <a:t>C017｜疑胰臟炎或嚴重過敏應停藥並立即求醫</a:t>
            </a:r>
          </a:p>
          <a:p>
            <a:r>
              <a:t>N：不適用</a:t>
            </a:r>
          </a:p>
          <a:p>
            <a:r>
              <a:t>持續嚴重腹痛、呼吸/顏面腫脹等需緊急評估</a:t>
            </a:r>
          </a:p>
          <a:p>
            <a:r>
              <a:t>族群：用藥者</a:t>
            </a:r>
          </a:p>
          <a:p>
            <a:r>
              <a:t>邊界：病人警訊語句需醫師審核；非自我診斷工具</a:t>
            </a:r>
          </a:p>
          <a:p>
            <a:r>
              <a:t>限制：急性膽囊、視網膜病變亦須說明；不可擅用重啟建議</a:t>
            </a:r>
          </a:p>
          <a:p>
            <a:r>
              <a:t>層級：verified_US_only</a:t>
            </a:r>
          </a:p>
          <a:p>
            <a:r>
              <a:t>來源 S07：§5.2/5.4 PDF p.4</a:t>
            </a:r>
          </a:p>
          <a:p>
            <a:r>
              <a:t>https://pi.lilly.com/us/mounjaro-uspi.pdf</a:t>
            </a:r>
          </a:p>
          <a:p/>
          <a:p>
            <a:r>
              <a:t>C014｜合併insulin或sulfonylurea等secretagogue增加低血糖風險</a:t>
            </a:r>
          </a:p>
          <a:p>
            <a:r>
              <a:t>N：不適用</a:t>
            </a:r>
          </a:p>
          <a:p>
            <a:r>
              <a:t>可能需減少併藥，由醫療團隊調整</a:t>
            </a:r>
          </a:p>
          <a:p>
            <a:r>
              <a:t>族群：合併治療者</a:t>
            </a:r>
          </a:p>
          <a:p>
            <a:r>
              <a:t>邊界：不能說單藥零低血糖；病人勿自行減藥</a:t>
            </a:r>
          </a:p>
          <a:p>
            <a:r>
              <a:t>限制：不提供通用減量百分比</a:t>
            </a:r>
          </a:p>
          <a:p>
            <a:r>
              <a:t>層級：verified_US_only</a:t>
            </a:r>
          </a:p>
          <a:p>
            <a:r>
              <a:t>來源 S07：§5.3 PDF p.4</a:t>
            </a:r>
          </a:p>
          <a:p>
            <a:r>
              <a:t>https://pi.lilly.com/us/mounjaro-uspi.pdf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直接抗炎／心腎全面受益等機制推論不升格為臨床結論（biomarker 與 clinical outcome 分層；動物或其他 GLP-1 RA 結果不當 tirzepatide 人體證據）；② 「手術般療效」比喻不用；③ FLOW 結果不外推 tirzepatide；④ SUMMIT 複合終點不寫成 CV death 獲益；⑤ SURPASS-2（sema 1 mg）與 SURMOUNT-5（sema 1.7／2.4 mg）的 comparator 不混用。</a:t>
            </a:r>
          </a:p>
          <a:p/>
          <a:p>
            <a:r>
              <a:t>C020｜原研讀素材的直接抗炎/心腎全面受益語句不可升格為臨床結論</a:t>
            </a:r>
          </a:p>
          <a:p>
            <a:r>
              <a:t>N：不適用</a:t>
            </a:r>
          </a:p>
          <a:p>
            <a:r>
              <a:t>機制/biomarker/clinical outcome需分層</a:t>
            </a:r>
          </a:p>
          <a:p>
            <a:r>
              <a:t>族群：依各藥物/適應人群</a:t>
            </a:r>
          </a:p>
          <a:p>
            <a:r>
              <a:t>邊界：不得把不同GLP-1 RA或動物結果當tirzepatide人體證據</a:t>
            </a:r>
          </a:p>
          <a:p>
            <a:r>
              <a:t>限制：本輪未逐篇核完發炎機制引用；預設不進主要教材</a:t>
            </a:r>
          </a:p>
          <a:p>
            <a:r>
              <a:t>層級：verified_boundary</a:t>
            </a:r>
          </a:p>
          <a:p>
            <a:r>
              <a:t>來源 S01;S02;S03;S04;S05：各trial主要終點；ZIP Notes03結論、Report §3</a:t>
            </a:r>
          </a:p>
          <a:p>
            <a:r>
              <a:t>https://pubmed.ncbi.nlm.nih.gov/34170647/ | https://pubmed.ncbi.nlm.nih.gov/40353578/ | https://pubmed.ncbi.nlm.nih.gov/39555826/ | https://pubmed.ncbi.nlm.nih.gov/38587233/ | https://pubmed.ncbi.nlm.nih.gov/38785209/</a:t>
            </a:r>
          </a:p>
          <a:p/>
          <a:p>
            <a:r>
              <a:t>C008｜FLOW為semaglutide而非tirzepatide的腎臟outcome試驗</a:t>
            </a:r>
          </a:p>
          <a:p>
            <a:r>
              <a:t>N：3533（1767/1766）</a:t>
            </a:r>
          </a:p>
          <a:p>
            <a:r>
              <a:t>中位3.4年；sema1mg vs placebo；主要複合331 vs410事件；HR0.76,95%CI0.66–0.88,P=.0003</a:t>
            </a:r>
          </a:p>
          <a:p>
            <a:r>
              <a:t>族群：T2D+CKD：eGFR50–75/UACR&gt;300至&lt;5000，或eGFR25至&lt;50/UACR&gt;100至&lt;5000</a:t>
            </a:r>
          </a:p>
          <a:p>
            <a:r>
              <a:t>邊界：腎主要複合含CV death；不能轉成tirzepatide class effect</a:t>
            </a:r>
          </a:p>
          <a:p>
            <a:r>
              <a:t>限制：不能稱所有CKD或透析患者的證據；Novo Nordisk資助</a:t>
            </a:r>
          </a:p>
          <a:p>
            <a:r>
              <a:t>層級：verified</a:t>
            </a:r>
          </a:p>
          <a:p>
            <a:r>
              <a:t>來源 S05：Abstract Methods/Results；NEJM pp.109–121</a:t>
            </a:r>
          </a:p>
          <a:p>
            <a:r>
              <a:t>https://pubmed.ncbi.nlm.nih.gov/38785209/</a:t>
            </a:r>
          </a:p>
          <a:p/>
          <a:p>
            <a:r>
              <a:t>C006｜SUMMIT降低CV death或HF惡化複合終點，不能說已證實單獨降低CV死亡</a:t>
            </a:r>
          </a:p>
          <a:p>
            <a:r>
              <a:t>N：731（364/367）</a:t>
            </a:r>
          </a:p>
          <a:p>
            <a:r>
              <a:t>中位104週；36/364(9.9%) vs56/367(15.3%)；HR0.62,95%CI0.41–0.95；CV death8 vs5，HR1.58,CI0.52–4.83</a:t>
            </a:r>
          </a:p>
          <a:p>
            <a:r>
              <a:t>族群：BMI≥30、HF、LVEF≥50%；包含有/無T2D</a:t>
            </a:r>
          </a:p>
          <a:p>
            <a:r>
              <a:t>邊界：肥胖HFpEF；無法與STEP跨試驗排名</a:t>
            </a:r>
          </a:p>
          <a:p>
            <a:r>
              <a:t>限制：不同終點不可當住院率；CV死亡CI寬；52週KCCQ是另一共同主要終點</a:t>
            </a:r>
          </a:p>
          <a:p>
            <a:r>
              <a:t>層級：verified</a:t>
            </a:r>
          </a:p>
          <a:p>
            <a:r>
              <a:t>來源 S03：Abstract；正文p.427及Table2</a:t>
            </a:r>
          </a:p>
          <a:p>
            <a:r>
              <a:t>https://pubmed.ncbi.nlm.nih.gov/39555826/</a:t>
            </a:r>
          </a:p>
          <a:p/>
          <a:p>
            <a:r>
              <a:t>C004｜SURPASS-2比較的是semaglutide 1 mg</a:t>
            </a:r>
          </a:p>
          <a:p>
            <a:r>
              <a:t>N：1879隨機；1878至少一劑</a:t>
            </a:r>
          </a:p>
          <a:p>
            <a:r>
              <a:t>40週；tirzepatide 5/10/15mg；HbA1c -2.01/-2.24/-2.30百分點，sema1mg -1.86百分點</a:t>
            </a:r>
          </a:p>
          <a:p>
            <a:r>
              <a:t>族群：metformin治療仍控制不足T2D成人</a:t>
            </a:r>
          </a:p>
          <a:p>
            <a:r>
              <a:t>邊界：控糖比較不能替代sema2.4mg減重比較</a:t>
            </a:r>
          </a:p>
          <a:p>
            <a:r>
              <a:t>限制：HbA1c為百分點，不是相對百分比；不推定所有sema劑量</a:t>
            </a:r>
          </a:p>
          <a:p>
            <a:r>
              <a:t>層級：verified</a:t>
            </a:r>
          </a:p>
          <a:p>
            <a:r>
              <a:t>來源 S01：Methods/Results abstract；正文pp.503–505</a:t>
            </a:r>
          </a:p>
          <a:p>
            <a:r>
              <a:t>https://pubmed.ncbi.nlm.nih.gov/34170647/</a:t>
            </a:r>
          </a:p>
          <a:p/>
          <a:p>
            <a:r>
              <a:t>C005｜SURMOUNT-5主要結果限無T2D肥胖/過重成人</a:t>
            </a:r>
          </a:p>
          <a:p>
            <a:r>
              <a:t>N：751隨機；750用藥分析（374/376）</a:t>
            </a:r>
          </a:p>
          <a:p>
            <a:r>
              <a:t>72週；tirzepatide最大耐受10/15mg：-20.2%（95%CI -21.4至-19.1）；sema1.7/2.4mg：-13.7%（-14.9至-12.6）；P&lt;.001</a:t>
            </a:r>
          </a:p>
          <a:p>
            <a:r>
              <a:t>族群：無T2D；BMI≥30或≥27伴相關共病</a:t>
            </a:r>
          </a:p>
          <a:p>
            <a:r>
              <a:t>邊界：群體平均，不能保證T2D/HFpEF個案同幅減重</a:t>
            </a:r>
          </a:p>
          <a:p>
            <a:r>
              <a:t>限制：modified treatment-regimen estimand；廠商Lilly資助；非心腎outcome比較</a:t>
            </a:r>
          </a:p>
          <a:p>
            <a:r>
              <a:t>層級：verified</a:t>
            </a:r>
          </a:p>
          <a:p>
            <a:r>
              <a:t>來源 S02：Abstract；Table2/Fig1 pp.30–31；Methods p.28</a:t>
            </a:r>
          </a:p>
          <a:p>
            <a:r>
              <a:t>https://pubmed.ncbi.nlm.nih.gov/40353578/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P001 台灣目前各強度／器型完整仿單與核准版本（年齡、BMI、OSA、劑量、禁忌、交互作用、妊娠、麻醉警示、保存／漏打）及健保給付——未過 gate 前不做個別處方或台灣劑量圖；P002 原始補充資料／SAP／critical correspondence 核讀（涉及安全性優劣、心腎途徑、探索性 multiplicity）；P003 妊娠計畫停藥間隔與台灣現行麻醉流程。作者／機構／COI 亦 [TO CONFIRM]。</a:t>
            </a:r>
          </a:p>
          <a:p/>
          <a:p>
            <a:r>
              <a:t>P001｜取得台灣目前各強度/器型完整仿單與核准版本</a:t>
            </a:r>
          </a:p>
          <a:p>
            <a:r>
              <a:t>N：不適用</a:t>
            </a:r>
          </a:p>
          <a:p>
            <a:r>
              <a:t>年齡、BMI、OSA、劑量、禁忌、交互作用、妊娠、麻醉警示、保存/漏打</a:t>
            </a:r>
          </a:p>
          <a:p>
            <a:r>
              <a:t>族群：台灣使用者</a:t>
            </a:r>
          </a:p>
          <a:p>
            <a:r>
              <a:t>邊界：patient dose/IFU及適應症細節上線前必過gate</a:t>
            </a:r>
          </a:p>
          <a:p>
            <a:r>
              <a:t>限制：不能用2023評估報告或美國2026 label填空</a:t>
            </a:r>
          </a:p>
          <a:p>
            <a:r>
              <a:t>層級：pending</a:t>
            </a:r>
          </a:p>
          <a:p>
            <a:r>
              <a:t>來源 S14;S09：TFDA許可證/仿單附件；尚缺本次驗證</a:t>
            </a:r>
          </a:p>
          <a:p>
            <a:r>
              <a:t>https://www.hosp.nycu.edu.tw/departments/dep-support/pharmacy/drog-use-search/10388-%E7%8C%9B%E5%81%A5%E6%A8%82%E7%AD%8610%E6%AF%AB%E5%85%8B-0-6%E6%AF%AB%E5%8D%87.html | https://www.fda.gov.tw/TC/newsContent.aspx?cid=4&amp;id=t623895</a:t>
            </a:r>
          </a:p>
          <a:p/>
          <a:p>
            <a:r>
              <a:t>P002｜正式發布前完成原始補充資料與critical correspondence核讀</a:t>
            </a:r>
          </a:p>
          <a:p>
            <a:r>
              <a:t>N：不適用</a:t>
            </a:r>
          </a:p>
          <a:p>
            <a:r>
              <a:t>涉及安全性優劣、心腎作用途徑、探索性multiplicity</a:t>
            </a:r>
          </a:p>
          <a:p>
            <a:r>
              <a:t>族群：依trial</a:t>
            </a:r>
          </a:p>
          <a:p>
            <a:r>
              <a:t>邊界：已核對abstract主要數字；不是所有clinical查核完成</a:t>
            </a:r>
          </a:p>
          <a:p>
            <a:r>
              <a:t>限制：現規劃不宣稱GIP止吐因果或其他全面優勢</a:t>
            </a:r>
          </a:p>
          <a:p>
            <a:r>
              <a:t>層級：pending</a:t>
            </a:r>
          </a:p>
          <a:p>
            <a:r>
              <a:t>來源 S02;S03;S06;S12：supplement/SAP/correspondence</a:t>
            </a:r>
          </a:p>
          <a:p>
            <a:r>
              <a:t>https://pubmed.ncbi.nlm.nih.gov/40353578/ | https://pubmed.ncbi.nlm.nih.gov/39555826/ | https://pubmed.ncbi.nlm.nih.gov/41406444/ | https://pubmed.ncbi.nlm.nih.gov/42114520/</a:t>
            </a:r>
          </a:p>
          <a:p/>
          <a:p>
            <a:r>
              <a:t>P003｜妊娠計畫停藥間隔與臺灣現行麻醉流程</a:t>
            </a:r>
          </a:p>
          <a:p>
            <a:r>
              <a:t>N：不適用</a:t>
            </a:r>
          </a:p>
          <a:p>
            <a:r>
              <a:t>不提供統一停藥天數；由處方/麻醉團隊制定</a:t>
            </a:r>
          </a:p>
          <a:p>
            <a:r>
              <a:t>族群：妊娠或程序規劃者</a:t>
            </a:r>
          </a:p>
          <a:p>
            <a:r>
              <a:t>邊界：未通過前只保留諮詢提醒</a:t>
            </a:r>
          </a:p>
          <a:p>
            <a:r>
              <a:t>限制：不從半衰期自行計算臨床停藥方案</a:t>
            </a:r>
          </a:p>
          <a:p>
            <a:r>
              <a:t>層級：pending</a:t>
            </a:r>
          </a:p>
          <a:p>
            <a:r>
              <a:t>來源 S07;S14：§8.1/5.9及台灣指引待補</a:t>
            </a:r>
          </a:p>
          <a:p>
            <a:r>
              <a:t>https://pi.lilly.com/us/mounjaro-uspi.pdf | https://www.hosp.nycu.edu.tw/departments/dep-support/pharmacy/drog-use-search/10388-%E7%8C%9B%E5%81%A5%E6%A8%82%E7%AD%8610%E6%AF%AB%E5%85%8B-0-6%E6%AF%AB%E5%8D%87.html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分子、品牌、jurisdiction 是三個獨立軸（C001／C002／C003）；② 每個療效數字綁定試驗族群與 comparator 劑量（C004／C005／C006／C007／C008／C009）；③ 邊界（探索性、複合終點、US-only、[TO CONFIRM]）本身就是要傳達的內容。</a:t>
            </a:r>
          </a:p>
          <a:p/>
          <a:p>
            <a:r>
              <a:t>C001｜Tirzepatide 是單一分子的 GIP/GLP-1 雙受體促效劑；semaglutide 是 GLP-1 受體促效劑</a:t>
            </a:r>
          </a:p>
          <a:p>
            <a:r>
              <a:t>N：不適用</a:t>
            </a:r>
          </a:p>
          <a:p>
            <a:r>
              <a:t>機制；不推導療效為兩倍</a:t>
            </a:r>
          </a:p>
          <a:p>
            <a:r>
              <a:t>族群：藥物機制</a:t>
            </a:r>
          </a:p>
          <a:p>
            <a:r>
              <a:t>邊界：機制示意；不能證明所有器官均受益</a:t>
            </a:r>
          </a:p>
          <a:p>
            <a:r>
              <a:t>限制：不採用萬能鑰匙或保證抗炎的比喻</a:t>
            </a:r>
          </a:p>
          <a:p>
            <a:r>
              <a:t>層級：verified</a:t>
            </a:r>
          </a:p>
          <a:p>
            <a:r>
              <a:t>來源 S07;S02：§12.1；S02 Introduction p.27</a:t>
            </a:r>
          </a:p>
          <a:p>
            <a:r>
              <a:t>https://pi.lilly.com/us/mounjaro-uspi.pdf | https://pubmed.ncbi.nlm.nih.gov/40353578/</a:t>
            </a:r>
          </a:p>
          <a:p/>
          <a:p>
            <a:r>
              <a:t>C002｜美國 Mounjaro 與 Zepbound 品牌適應症須分列</a:t>
            </a:r>
          </a:p>
          <a:p>
            <a:r>
              <a:t>N：不適用</a:t>
            </a:r>
          </a:p>
          <a:p>
            <a:r>
              <a:t>Mounjaro：≥10歲T2D控糖、成人高MACE風險T2D風險降低；Zepbound：成人體重控制及肥胖伴中重度OSA</a:t>
            </a:r>
          </a:p>
          <a:p>
            <a:r>
              <a:t>族群：依各品牌標示人群</a:t>
            </a:r>
          </a:p>
          <a:p>
            <a:r>
              <a:t>邊界：僅美國，不能套台灣；08/2026版本</a:t>
            </a:r>
          </a:p>
          <a:p>
            <a:r>
              <a:t>限制：Mounjaro非僅成人控糖；美國標示亦非台灣HFpEF適應症</a:t>
            </a:r>
          </a:p>
          <a:p>
            <a:r>
              <a:t>層級：verified_US_only</a:t>
            </a:r>
          </a:p>
          <a:p>
            <a:r>
              <a:t>來源 S07;S08：USPI §1；均PDF p.1</a:t>
            </a:r>
          </a:p>
          <a:p>
            <a:r>
              <a:t>https://pi.lilly.com/us/mounjaro-uspi.pdf | https://pi.lilly.com/us/zepbound-uspi.pdf</a:t>
            </a:r>
          </a:p>
          <a:p/>
          <a:p>
            <a:r>
              <a:t>C003｜台灣TFDA已確認猛健樂注射筆有血糖控制及肥胖過重體重控制用途</a:t>
            </a:r>
          </a:p>
          <a:p>
            <a:r>
              <a:t>N：不適用</a:t>
            </a:r>
          </a:p>
          <a:p>
            <a:r>
              <a:t>公告2025-11-10</a:t>
            </a:r>
          </a:p>
          <a:p>
            <a:r>
              <a:t>族群：台灣核准用途概述</a:t>
            </a:r>
          </a:p>
          <a:p>
            <a:r>
              <a:t>邊界：可說概括用途；詳細年齡/BMI/OSA須查現行仿單</a:t>
            </a:r>
          </a:p>
          <a:p>
            <a:r>
              <a:t>限制：公告不是完整仿單；勿由USA推導台灣MACE/兒科</a:t>
            </a:r>
          </a:p>
          <a:p>
            <a:r>
              <a:t>層級：verified_scope_only</a:t>
            </a:r>
          </a:p>
          <a:p>
            <a:r>
              <a:t>來源 S09：第一點 Tirzepatide成分注射筆</a:t>
            </a:r>
          </a:p>
          <a:p>
            <a:r>
              <a:t>https://www.fda.gov.tw/TC/newsContent.aspx?cid=4&amp;id=t623895</a:t>
            </a:r>
          </a:p>
          <a:p/>
          <a:p>
            <a:r>
              <a:t>C004｜SURPASS-2比較的是semaglutide 1 mg</a:t>
            </a:r>
          </a:p>
          <a:p>
            <a:r>
              <a:t>N：1879隨機；1878至少一劑</a:t>
            </a:r>
          </a:p>
          <a:p>
            <a:r>
              <a:t>40週；tirzepatide 5/10/15mg；HbA1c -2.01/-2.24/-2.30百分點，sema1mg -1.86百分點</a:t>
            </a:r>
          </a:p>
          <a:p>
            <a:r>
              <a:t>族群：metformin治療仍控制不足T2D成人</a:t>
            </a:r>
          </a:p>
          <a:p>
            <a:r>
              <a:t>邊界：控糖比較不能替代sema2.4mg減重比較</a:t>
            </a:r>
          </a:p>
          <a:p>
            <a:r>
              <a:t>限制：HbA1c為百分點，不是相對百分比；不推定所有sema劑量</a:t>
            </a:r>
          </a:p>
          <a:p>
            <a:r>
              <a:t>層級：verified</a:t>
            </a:r>
          </a:p>
          <a:p>
            <a:r>
              <a:t>來源 S01：Methods/Results abstract；正文pp.503–505</a:t>
            </a:r>
          </a:p>
          <a:p>
            <a:r>
              <a:t>https://pubmed.ncbi.nlm.nih.gov/34170647/</a:t>
            </a:r>
          </a:p>
          <a:p/>
          <a:p>
            <a:r>
              <a:t>C005｜SURMOUNT-5主要結果限無T2D肥胖/過重成人</a:t>
            </a:r>
          </a:p>
          <a:p>
            <a:r>
              <a:t>N：751隨機；750用藥分析（374/376）</a:t>
            </a:r>
          </a:p>
          <a:p>
            <a:r>
              <a:t>72週；tirzepatide最大耐受10/15mg：-20.2%（95%CI -21.4至-19.1）；sema1.7/2.4mg：-13.7%（-14.9至-12.6）；P&lt;.001</a:t>
            </a:r>
          </a:p>
          <a:p>
            <a:r>
              <a:t>族群：無T2D；BMI≥30或≥27伴相關共病</a:t>
            </a:r>
          </a:p>
          <a:p>
            <a:r>
              <a:t>邊界：群體平均，不能保證T2D/HFpEF個案同幅減重</a:t>
            </a:r>
          </a:p>
          <a:p>
            <a:r>
              <a:t>限制：modified treatment-regimen estimand；廠商Lilly資助；非心腎outcome比較</a:t>
            </a:r>
          </a:p>
          <a:p>
            <a:r>
              <a:t>層級：verified</a:t>
            </a:r>
          </a:p>
          <a:p>
            <a:r>
              <a:t>來源 S02：Abstract；Table2/Fig1 pp.30–31；Methods p.28</a:t>
            </a:r>
          </a:p>
          <a:p>
            <a:r>
              <a:t>https://pubmed.ncbi.nlm.nih.gov/40353578/</a:t>
            </a:r>
          </a:p>
          <a:p/>
          <a:p>
            <a:r>
              <a:t>C006｜SUMMIT降低CV death或HF惡化複合終點，不能說已證實單獨降低CV死亡</a:t>
            </a:r>
          </a:p>
          <a:p>
            <a:r>
              <a:t>N：731（364/367）</a:t>
            </a:r>
          </a:p>
          <a:p>
            <a:r>
              <a:t>中位104週；36/364(9.9%) vs56/367(15.3%)；HR0.62,95%CI0.41–0.95；CV death8 vs5，HR1.58,CI0.52–4.83</a:t>
            </a:r>
          </a:p>
          <a:p>
            <a:r>
              <a:t>族群：BMI≥30、HF、LVEF≥50%；包含有/無T2D</a:t>
            </a:r>
          </a:p>
          <a:p>
            <a:r>
              <a:t>邊界：肥胖HFpEF；無法與STEP跨試驗排名</a:t>
            </a:r>
          </a:p>
          <a:p>
            <a:r>
              <a:t>限制：不同終點不可當住院率；CV死亡CI寬；52週KCCQ是另一共同主要終點</a:t>
            </a:r>
          </a:p>
          <a:p>
            <a:r>
              <a:t>層級：verified</a:t>
            </a:r>
          </a:p>
          <a:p>
            <a:r>
              <a:t>來源 S03：Abstract；正文p.427及Table2</a:t>
            </a:r>
          </a:p>
          <a:p>
            <a:r>
              <a:t>https://pubmed.ncbi.nlm.nih.gov/39555826/</a:t>
            </a:r>
          </a:p>
          <a:p/>
          <a:p>
            <a:r>
              <a:t>C007｜STEP-HFpEF DM證據重點是症狀/功能與體重</a:t>
            </a:r>
          </a:p>
          <a:p>
            <a:r>
              <a:t>N：616隨機</a:t>
            </a:r>
          </a:p>
          <a:p>
            <a:r>
              <a:t>52週；sema2.4mg vs placebo；KCCQ差7.3分(95%CI4.1–10.4)；體重-9.8% vs-3.4%，差-6.4百分點</a:t>
            </a:r>
          </a:p>
          <a:p>
            <a:r>
              <a:t>族群：T2D、BMI≥30、LVEF≥45%、有症狀HF</a:t>
            </a:r>
          </a:p>
          <a:p>
            <a:r>
              <a:t>邊界：不能以此單一試驗宣稱降低CV死亡或與SUMMIT優劣</a:t>
            </a:r>
          </a:p>
          <a:p>
            <a:r>
              <a:t>限制：primary treatment-policy estimand；Novo Nordisk資助</a:t>
            </a:r>
          </a:p>
          <a:p>
            <a:r>
              <a:t>層級：verified</a:t>
            </a:r>
          </a:p>
          <a:p>
            <a:r>
              <a:t>來源 S04：Abstract；Methods p.1395；Table2</a:t>
            </a:r>
          </a:p>
          <a:p>
            <a:r>
              <a:t>https://pubmed.ncbi.nlm.nih.gov/38587233/</a:t>
            </a:r>
          </a:p>
          <a:p/>
          <a:p>
            <a:r>
              <a:t>C008｜FLOW為semaglutide而非tirzepatide的腎臟outcome試驗</a:t>
            </a:r>
          </a:p>
          <a:p>
            <a:r>
              <a:t>N：3533（1767/1766）</a:t>
            </a:r>
          </a:p>
          <a:p>
            <a:r>
              <a:t>中位3.4年；sema1mg vs placebo；主要複合331 vs410事件；HR0.76,95%CI0.66–0.88,P=.0003</a:t>
            </a:r>
          </a:p>
          <a:p>
            <a:r>
              <a:t>族群：T2D+CKD：eGFR50–75/UACR&gt;300至&lt;5000，或eGFR25至&lt;50/UACR&gt;100至&lt;5000</a:t>
            </a:r>
          </a:p>
          <a:p>
            <a:r>
              <a:t>邊界：腎主要複合含CV death；不能轉成tirzepatide class effect</a:t>
            </a:r>
          </a:p>
          <a:p>
            <a:r>
              <a:t>限制：不能稱所有CKD或透析患者的證據；Novo Nordisk資助</a:t>
            </a:r>
          </a:p>
          <a:p>
            <a:r>
              <a:t>層級：verified</a:t>
            </a:r>
          </a:p>
          <a:p>
            <a:r>
              <a:t>來源 S05：Abstract Methods/Results；NEJM pp.109–121</a:t>
            </a:r>
          </a:p>
          <a:p>
            <a:r>
              <a:t>https://pubmed.ncbi.nlm.nih.gov/38785209/</a:t>
            </a:r>
          </a:p>
          <a:p/>
          <a:p>
            <a:r>
              <a:t>C009｜SURPASS-CVOT已正式發表；MACE非劣性成立，優越性未達顯著</a:t>
            </a:r>
          </a:p>
          <a:p>
            <a:r>
              <a:t>N：13299隨機；排除134；mITT13165（6586/6579）</a:t>
            </a:r>
          </a:p>
          <a:p>
            <a:r>
              <a:t>tirzepatide≤15mg vs dulaglutide1.5mg weekly；MACE801(12.2%) vs862(13.1%)；HR0.92,95.3%CI0.83–1.01；NI P=.003，superiority P=.09</a:t>
            </a:r>
          </a:p>
          <a:p>
            <a:r>
              <a:t>族群：T2D+已確立ASCVD</a:t>
            </a:r>
          </a:p>
          <a:p>
            <a:r>
              <a:t>邊界：不能說勝過dulaglutide或勝過semaglutide；非placebo比較</a:t>
            </a:r>
          </a:p>
          <a:p>
            <a:r>
              <a:t>限制：非劣界值1.05；95.3%不可改95%；Lilly資助</a:t>
            </a:r>
          </a:p>
          <a:p>
            <a:r>
              <a:t>層級：verified</a:t>
            </a:r>
          </a:p>
          <a:p>
            <a:r>
              <a:t>來源 S06：Abstract Methods/Results；NEJM393:2409–2420</a:t>
            </a:r>
          </a:p>
          <a:p>
            <a:r>
              <a:t>https://pubmed.ncbi.nlm.nih.gov/41406444/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列出本教材使用的來源與 jurisdiction 標籤：S01 SURPASS-2、S02 SURMOUNT-5、S03 SUMMIT、S04 STEP-HFpEF DM、S05 FLOW、S06 SURPASS-CVOT、S07 Mounjaro USPI（USA）、S08 Zepbound USPI（USA）、S09 TFDA 公告（台灣，scope-only）、S12 SURPASS-CVOT 腎臟探索性分析、S13 SURMOUNT-4；證據截止 2026-10-29；各頁 claim ID 與正式 claim ledger 對應。</a:t>
            </a:r>
          </a:p>
          <a:p/>
          <a:p/>
          <a:p>
            <a:r>
              <a:t>S01｜SURPASS-2｜https://pubmed.ncbi.nlm.nih.gov/34170647/｜PubMed abstract；NotebookLM 原文 pp.503–515</a:t>
            </a:r>
          </a:p>
          <a:p>
            <a:r>
              <a:t>S02｜SURMOUNT-5｜https://pubmed.ncbi.nlm.nih.gov/40353578/｜PubMed abstract；NotebookLM 原文 pp.26–36</a:t>
            </a:r>
          </a:p>
          <a:p>
            <a:r>
              <a:t>S03｜SUMMIT｜https://pubmed.ncbi.nlm.nih.gov/39555826/｜PubMed abstract；NotebookLM 原文 pp.427–437；期刊卷期2025</a:t>
            </a:r>
          </a:p>
          <a:p>
            <a:r>
              <a:t>S04｜STEP-HFpEF DM｜https://pubmed.ncbi.nlm.nih.gov/38587233/｜PubMed abstract；NotebookLM 原文 pp.1394–1407</a:t>
            </a:r>
          </a:p>
          <a:p>
            <a:r>
              <a:t>S05｜FLOW｜https://pubmed.ncbi.nlm.nih.gov/38785209/｜PubMed abstract；NEJM 391:109–121；全文更新2025-08-14</a:t>
            </a:r>
          </a:p>
          <a:p>
            <a:r>
              <a:t>S06｜SURPASS-CVOT｜https://pubmed.ncbi.nlm.nih.gov/41406444/｜PubMed abstract；NEJM 393(24):2409–2420</a:t>
            </a:r>
          </a:p>
          <a:p>
            <a:r>
              <a:t>S07｜Mounjaro 美國 USPI｜https://pi.lilly.com/us/mounjaro-uspi.pdf｜§1、2.1、4、5、7.2、8.1、8.3、8.6、12.1、17；PDF頁碼見ledger</a:t>
            </a:r>
          </a:p>
          <a:p>
            <a:r>
              <a:t>S08｜Zepbound 美國 USPI｜https://pi.lilly.com/us/zepbound-uspi.pdf｜§1、2.1、2.2、5、7、8</a:t>
            </a:r>
          </a:p>
          <a:p>
            <a:r>
              <a:t>S09｜TFDA：我國減重及降血脂藥品供應穩定｜https://www.fda.gov.tw/TC/newsContent.aspx?cid=4&amp;id=t623895｜第一點 Tirzepatide 成分注射筆；非完整仿單</a:t>
            </a:r>
          </a:p>
          <a:p>
            <a:r>
              <a:t>S12｜SURPASS-CVOT 預定探索性腎臟分析｜https://pubmed.ncbi.nlm.nih.gov/42114520/｜PubMed abstract Methods/Findings；Lancet Diabetes Endocrinol 2026;14(7):544-557；非FLOW相同定義</a:t>
            </a:r>
          </a:p>
          <a:p>
            <a:r>
              <a:t>S13｜SURMOUNT-4｜https://pmc.ncbi.nlm.nih.gov/articles/PMC10714284/｜Abstract/Results；週36至88，783進入lead-in、670隨機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P01 / 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F4F8"/>
                </a:solidFill>
                <a:latin typeface="Microsoft JhengHei"/>
              </a:defRPr>
            </a:pPr>
            <a:r>
              <a:t>先對齊，再選擇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Tirzepatide 與 Semaglutide 的證據邊界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教育用途；個別處方須核對當地核准資訊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0728655" cy="78867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  01    給醫療專業人員的證據對齊教材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46070"/>
            <a:ext cx="10728655" cy="78867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  02    證據截止 2026-10-29 · v0.2-review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71900"/>
            <a:ext cx="10728655" cy="78867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  03    作者／機構／COI [TO CONFIRM]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97730"/>
            <a:ext cx="10728655" cy="78867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  04    台灣完整仿單與給付 [TO CONFIRM]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P02 / 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同一個藥名，四個問題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「猛健樂能不能用？」先釐清要回答什麼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通用臨床情境，並非真實個案或處方建議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T2D：metformin 治療仍控制不足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肥胖：沒有糖尿病，關切體重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HFpEF：肥胖伴心衰竭，關切症狀與事件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8404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04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CKD：T2D 合併慢性腎臟病，關切腎臟 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P03 / 分子與身份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藥物、族群與終點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三個座標共同決定結論的適用範圍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品牌、劑量、comparator 與 jurisdiction 也須同步核對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3818" cy="34747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分子 molecule：tirzepatide 或 semaglutide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族群 population：T2D、肥胖、HFpEF 或 CKD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終點 endpoint：HbA1c、體重、CV-HF 或腎複合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P04 / 分子與身份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兩個分子，兩種受體分類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Tirzepatide 是單一分子的 GIP／GLP-1 dual agonist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機制示意不能推導療效兩倍、所有器官受益或 class effect 互套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34747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Tirzepatide：GIP 與 GLP-1 雙受體促效劑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Semaglutide：GLP-1 receptor agonist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P05 / 分子與身份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品牌與 jurisdiction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美國標示與台灣核准內容分開閱讀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不得由美國標示推導台灣 MACE、兒科或 HFpEF 適應症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品牌／地區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已核對範圍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適用邊界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Mounjaro · USA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≥10 歲 T2D 控糖；成人高 MACE 風險 T2D 風險降低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USPI 08/2026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Zepbound · USA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成人體重控制；肥胖伴中重度 OSA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不同品牌標示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猛健樂 · 台灣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TFDA 公告：血糖控制與肥胖／過重體重控制用途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僅 scope-only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台灣詳細條件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年齡、BMI、OSA、完整仿單與給付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[TO CONFIRM]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P06 / 分子與身份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Check-Point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分子、品牌與 jurisdiction 是三個獨立軸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答錯可按回指頁碼，重新對齊來源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728655" cy="10363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F4F8"/>
                </a:solidFill>
                <a:latin typeface="Microsoft JhengHei"/>
              </a:defRPr>
            </a:pPr>
            <a:r>
              <a:t>問題 1：Tirzepatide 的受體分類？</a:t>
            </a:r>
          </a:p>
          <a:p>
            <a:pPr>
              <a:defRPr sz="1200">
                <a:solidFill>
                  <a:srgbClr val="4DD9CF"/>
                </a:solidFill>
                <a:latin typeface="Microsoft JhengHei"/>
              </a:defRPr>
            </a:pPr>
            <a:r>
              <a:t>  💡 關鍵對齊：GIP／GLP-1 dual agonist。C001  （點擊或參考演講備註；回指複習 P04）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30880"/>
            <a:ext cx="10728655" cy="10363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F4F8"/>
                </a:solidFill>
                <a:latin typeface="Microsoft JhengHei"/>
              </a:defRPr>
            </a:pPr>
            <a:r>
              <a:t>問題 2：美國體重控制標示掛在哪個品牌？</a:t>
            </a:r>
          </a:p>
          <a:p>
            <a:pPr>
              <a:defRPr sz="1200">
                <a:solidFill>
                  <a:srgbClr val="4DD9CF"/>
                </a:solidFill>
                <a:latin typeface="Microsoft JhengHei"/>
              </a:defRPr>
            </a:pPr>
            <a:r>
              <a:t>  💡 關鍵對齊：Zepbound。C002  （點擊或參考演講備註；回指複習 P05）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50080"/>
            <a:ext cx="10728655" cy="10363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F4F8"/>
                </a:solidFill>
                <a:latin typeface="Microsoft JhengHei"/>
              </a:defRPr>
            </a:pPr>
            <a:r>
              <a:t>問題 3：TFDA 公告能代替完整台灣仿單？</a:t>
            </a:r>
          </a:p>
          <a:p>
            <a:pPr>
              <a:defRPr sz="1200">
                <a:solidFill>
                  <a:srgbClr val="4DD9CF"/>
                </a:solidFill>
                <a:latin typeface="Microsoft JhengHei"/>
              </a:defRPr>
            </a:pPr>
            <a:r>
              <a:t>  💡 關鍵對齊：不能。詳細條件 [TO CONFIRM]。C003／P001  （點擊或參考演講備註；回指複習 P05）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P07 / 糖尿病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SURPASS-2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T2D 控糖 head-to-head；comparator 是 semaglutide 1 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試驗族群：Metformin 控制不足的 T2D 成人 · N=1879 隨機 · 40 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Open-label RCT；不能替代 semaglutide 2.4 mg 的減重比較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3D9"/>
                </a:solidFill>
                <a:latin typeface="Microsoft JhengHei"/>
              </a:defRPr>
            </a:pPr>
            <a:r>
              <a:t>指標單位：HbA1c 變化（百分點）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92608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Tirzepatide 5 mg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542032"/>
            <a:ext cx="6858000" cy="414909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0" y="2542032"/>
            <a:ext cx="5993295" cy="414909"/>
          </a:xfrm>
          <a:prstGeom prst="round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E"/>
                </a:solidFill>
                <a:latin typeface="Microsoft JhengHei"/>
              </a:defRPr>
            </a:pPr>
            <a:r>
              <a:t>  -2.01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3260"/>
            <a:ext cx="292608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Tirzepatide 10 mg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296412"/>
            <a:ext cx="6858000" cy="414909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3296412"/>
            <a:ext cx="6679095" cy="414909"/>
          </a:xfrm>
          <a:prstGeom prst="round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E"/>
                </a:solidFill>
                <a:latin typeface="Microsoft JhengHei"/>
              </a:defRPr>
            </a:pPr>
            <a:r>
              <a:t>  -2.24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292608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Tirzepatide 15 mg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4050792"/>
            <a:ext cx="6858000" cy="414909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4050792"/>
            <a:ext cx="6858000" cy="414909"/>
          </a:xfrm>
          <a:prstGeom prst="round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E"/>
                </a:solidFill>
                <a:latin typeface="Microsoft JhengHei"/>
              </a:defRPr>
            </a:pPr>
            <a:r>
              <a:t>  -2.30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32020"/>
            <a:ext cx="292608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Semaglutide 1 mg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4805172"/>
            <a:ext cx="6858000" cy="414909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4805172"/>
            <a:ext cx="5546034" cy="414909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E"/>
                </a:solidFill>
                <a:latin typeface="Microsoft JhengHei"/>
              </a:defRPr>
            </a:pPr>
            <a:r>
              <a:t>  -1.86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P08 / 糖尿病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SURPASS-CVOT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MACE 非劣性成立，優越性未達顯著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試驗族群：T2D＋已確立 ASCVD · mITT N=13165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Active-comparator RCT；Lilly 資助。不能說勝過 dulaglutide 或 semaglutide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377440"/>
            <a:ext cx="19050" cy="2651760"/>
          </a:xfrm>
          <a:prstGeom prst="rect">
            <a:avLst/>
          </a:prstGeom>
          <a:solidFill>
            <a:srgbClr val="AA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5029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C3D9"/>
                </a:solidFill>
                <a:latin typeface="Microsoft JhengHei"/>
              </a:defRPr>
            </a:pPr>
            <a:r>
              <a:t>HR 1.0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377440"/>
            <a:ext cx="19050" cy="26517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4A261"/>
                </a:solidFill>
                <a:latin typeface="Microsoft JhengHei"/>
              </a:defRPr>
            </a:pPr>
            <a:r>
              <a:t>NI 1.05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MACE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DD9CF"/>
                </a:solidFill>
                <a:latin typeface="Microsoft JhengHei"/>
              </a:defRPr>
            </a:pPr>
            <a:r>
              <a:t>HR 0.92 (95.3% CI 0.83–1.01)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1" y="2697480"/>
            <a:ext cx="2633472" cy="50800"/>
          </a:xfrm>
          <a:prstGeom prst="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8576" y="2633472"/>
            <a:ext cx="146304" cy="146304"/>
          </a:xfrm>
          <a:prstGeom prst="ellipse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Tirzepatide ≤15 mg vs dulaglutide 1.5 mg weekly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9184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MACE：12.2% vs 13.1%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48056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非劣性 P=.003；優越性 P=.09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P09 / 肥胖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SURMOUNT-5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這次的 semaglutide 是 1.7／2.4 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試驗族群：無 T2D 的肥胖／過重成人 · N=751 隨機 · 72 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Open-label；modified treatment-regimen estimand；Lilly 資助。群體平均，非心腎 outcome 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3D9"/>
                </a:solidFill>
                <a:latin typeface="Microsoft JhengHei"/>
              </a:defRPr>
            </a:pPr>
            <a:r>
              <a:t>指標單位：體重變化（%）· P&lt;.001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92608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Tirzepatide 10／15 mg</a:t>
            </a:r>
          </a:p>
          <a:p>
            <a:pPr>
              <a:defRPr sz="1000">
                <a:solidFill>
                  <a:srgbClr val="AAC3D9"/>
                </a:solidFill>
                <a:latin typeface="Microsoft JhengHei"/>
              </a:defRPr>
            </a:pPr>
            <a:r>
              <a:t>95% CI −21.4 至 −19.1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542032"/>
            <a:ext cx="6858000" cy="829818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0" y="2542032"/>
            <a:ext cx="6858000" cy="829818"/>
          </a:xfrm>
          <a:prstGeom prst="round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E"/>
                </a:solidFill>
                <a:latin typeface="Microsoft JhengHei"/>
              </a:defRPr>
            </a:pPr>
            <a:r>
              <a:t>  -20.20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292608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Semaglutide 1.7／2.4 mg</a:t>
            </a:r>
          </a:p>
          <a:p>
            <a:pPr>
              <a:defRPr sz="1000">
                <a:solidFill>
                  <a:srgbClr val="AAC3D9"/>
                </a:solidFill>
                <a:latin typeface="Microsoft JhengHei"/>
              </a:defRPr>
            </a:pPr>
            <a:r>
              <a:t>95% CI −14.9 至 −12.6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4050792"/>
            <a:ext cx="6858000" cy="829818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4050792"/>
            <a:ext cx="4651217" cy="82981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F1E"/>
                </a:solidFill>
                <a:latin typeface="Microsoft JhengHei"/>
              </a:defRPr>
            </a:pPr>
            <a:r>
              <a:t>  -13.70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P10 / 肥胖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停藥與維持：SURMOUNT-4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Randomized withdrawal：開始治療前規劃追蹤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試驗族群：無糖尿病肥胖／過重 · 36 週 lead-in 後 N=670 隨機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Abstract 核讀；耐受 lead-in 的選擇人群。非所有人停藥必回升 14%；急性警訊見 P20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81447" cy="3383280"/>
          </a:xfrm>
          <a:prstGeom prst="roundRect">
            <a:avLst/>
          </a:prstGeom>
          <a:solidFill>
            <a:srgbClr val="111D3C"/>
          </a:solidFill>
          <a:ln w="2540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F4F8"/>
                </a:solidFill>
                <a:latin typeface="Microsoft JhengHei"/>
              </a:defRPr>
            </a:pPr>
            <a:r>
              <a:t>繼續 tirzepatide</a:t>
            </a:r>
            <a:br/>
          </a:p>
          <a:p>
            <a:pPr>
              <a:defRPr sz="4400" b="1">
                <a:solidFill>
                  <a:srgbClr val="4DD9CF"/>
                </a:solidFill>
                <a:latin typeface="Microsoft JhengHei"/>
              </a:defRPr>
            </a:pPr>
            <a:r>
              <a:t>−5.5%</a:t>
            </a:r>
            <a:br/>
          </a:p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週 36–88 體重再變化</a:t>
            </a:r>
            <a:br/>
            <a:r>
              <a:t>耐受 lead-in 後維持治療效果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03120"/>
            <a:ext cx="5181447" cy="3383280"/>
          </a:xfrm>
          <a:prstGeom prst="roundRect">
            <a:avLst/>
          </a:prstGeom>
          <a:solidFill>
            <a:srgbClr val="111D3C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F4F8"/>
                </a:solidFill>
                <a:latin typeface="Microsoft JhengHei"/>
              </a:defRPr>
            </a:pPr>
            <a:r>
              <a:t>改 placebo（停藥）</a:t>
            </a:r>
            <a:br/>
          </a:p>
          <a:p>
            <a:pPr>
              <a:defRPr sz="4400" b="1">
                <a:solidFill>
                  <a:srgbClr val="F4A261"/>
                </a:solidFill>
                <a:latin typeface="Microsoft JhengHei"/>
              </a:defRPr>
            </a:pPr>
            <a:r>
              <a:t>+14.0%</a:t>
            </a:r>
            <a:br/>
          </a:p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週 36–88 體重顯著回升</a:t>
            </a:r>
            <a:br/>
            <a:r>
              <a:t>提示長期體重維持需長期對話與管理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P11 / 肥胖相關 HFpEF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SUMMIT：複合終點與死亡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「CV death 或 HF 惡化」獲益，不能改成 CV death 獲益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試驗族群：BMI≥30、HF、LVEF≥50% · 有／無 T2D · N=731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CV death CI 寬且跨 1；複合終點不換成住院率；不得與 STEP 跨試驗排名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0720" y="2377440"/>
            <a:ext cx="19050" cy="2651760"/>
          </a:xfrm>
          <a:prstGeom prst="rect">
            <a:avLst/>
          </a:prstGeom>
          <a:solidFill>
            <a:srgbClr val="AA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2080" y="5029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C3D9"/>
                </a:solidFill>
                <a:latin typeface="Microsoft JhengHei"/>
              </a:defRPr>
            </a:pPr>
            <a:r>
              <a:t>HR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CV death 或 HF 惡化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DD9CF"/>
                </a:solidFill>
                <a:latin typeface="Microsoft JhengHei"/>
              </a:defRPr>
            </a:pPr>
            <a:r>
              <a:t>HR 0.62 (95% CI 0.41–0.95)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697480"/>
            <a:ext cx="822960" cy="50800"/>
          </a:xfrm>
          <a:prstGeom prst="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98448" y="2633472"/>
            <a:ext cx="146304" cy="146304"/>
          </a:xfrm>
          <a:prstGeom prst="ellipse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CV death 單獨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DD9CF"/>
                </a:solidFill>
                <a:latin typeface="Microsoft JhengHei"/>
              </a:defRPr>
            </a:pPr>
            <a:r>
              <a:t>HR 1.58 (95% CI 0.52–4.83)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200" y="4023360"/>
            <a:ext cx="6568440" cy="50800"/>
          </a:xfrm>
          <a:prstGeom prst="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61488" y="3959352"/>
            <a:ext cx="146304" cy="146304"/>
          </a:xfrm>
          <a:prstGeom prst="ellipse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10312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Tirzepatide ≤15 mg vs placebo；中位 104 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9184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複合終點 9.9% vs 15.3%；CV death 8 vs 5 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48056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52 週 KCCQ 是另一共同主要終點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P12 / 肥胖相關 HFpEF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STEP-HFpEF 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Semaglutide 的症狀、功能與體重證據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試驗族群：T2D、BMI≥30、LVEF≥45%、有症狀 HF · N=616 · 52 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Semaglutide 2.4 mg vs placebo；treatment-policy estimand；Novo Nordisk 資助。不能宣稱 CV 死亡降低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81447" cy="3383280"/>
          </a:xfrm>
          <a:prstGeom prst="roundRect">
            <a:avLst/>
          </a:prstGeom>
          <a:solidFill>
            <a:srgbClr val="111D3C"/>
          </a:solidFill>
          <a:ln w="2540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F4F8"/>
                </a:solidFill>
                <a:latin typeface="Microsoft JhengHei"/>
              </a:defRPr>
            </a:pPr>
            <a:r>
              <a:t>KCCQ 臨床症狀評分</a:t>
            </a:r>
            <a:br/>
          </a:p>
          <a:p>
            <a:pPr>
              <a:defRPr sz="4400" b="1">
                <a:solidFill>
                  <a:srgbClr val="4DD9CF"/>
                </a:solidFill>
                <a:latin typeface="Microsoft JhengHei"/>
              </a:defRPr>
            </a:pPr>
            <a:r>
              <a:t>+7.3 分</a:t>
            </a:r>
            <a:br/>
          </a:p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95% CI 4.1–10.4 · P&lt;.001</a:t>
            </a:r>
            <a:br/>
            <a:r>
              <a:t>心衰竭症狀與體能顯著改善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03120"/>
            <a:ext cx="5181447" cy="3383280"/>
          </a:xfrm>
          <a:prstGeom prst="roundRect">
            <a:avLst/>
          </a:prstGeom>
          <a:solidFill>
            <a:srgbClr val="111D3C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F4F8"/>
                </a:solidFill>
                <a:latin typeface="Microsoft JhengHei"/>
              </a:defRPr>
            </a:pPr>
            <a:r>
              <a:t>體重變化組間差</a:t>
            </a:r>
            <a:br/>
          </a:p>
          <a:p>
            <a:pPr>
              <a:defRPr sz="4400" b="1">
                <a:solidFill>
                  <a:srgbClr val="A78BFA"/>
                </a:solidFill>
                <a:latin typeface="Microsoft JhengHei"/>
              </a:defRPr>
            </a:pPr>
            <a:r>
              <a:t>−6.4%</a:t>
            </a:r>
            <a:br/>
          </a:p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−9.8% vs −3.4% · P&lt;.001</a:t>
            </a:r>
            <a:br/>
            <a:r>
              <a:t>52 週治療策略 estimand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P13 / 肥胖相關 HFpEF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HFpEF 證據對讀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兩個試驗各有自己的藥物、族群與終點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對齊表用於辨識證據歸屬，不是跨試驗療效排名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座標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SUMMIT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STEP-HFpEF DM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藥物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Tirzepatide ≤15 mg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Semaglutide 2.4 mg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族群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肥胖 HFpEF；可有／無 T2D；LVEF≥50%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T2D＋肥胖 HF；LVEF≥45%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主要重點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CV-HF 複合＋KCCQ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症狀、功能、體重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P14 / 肥胖相關 HFpEF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Check-Point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每一句回答，都有 claim 與試驗座標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第三題回看 P07／P09；comparator 劑量不可混用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728655" cy="10363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F4F8"/>
                </a:solidFill>
                <a:latin typeface="Microsoft JhengHei"/>
              </a:defRPr>
            </a:pPr>
            <a:r>
              <a:t>問題 1：SUMMIT 已證實降低 CV death？</a:t>
            </a:r>
          </a:p>
          <a:p>
            <a:pPr>
              <a:defRPr sz="1200">
                <a:solidFill>
                  <a:srgbClr val="4DD9CF"/>
                </a:solidFill>
                <a:latin typeface="Microsoft JhengHei"/>
              </a:defRPr>
            </a:pPr>
            <a:r>
              <a:t>  💡 關鍵對齊：不能。複合終點獲益，CV death CI 跨 1。C006  （點擊或參考演講備註；回指複習 P11）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30880"/>
            <a:ext cx="10728655" cy="10363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F4F8"/>
                </a:solidFill>
                <a:latin typeface="Microsoft JhengHei"/>
              </a:defRPr>
            </a:pPr>
            <a:r>
              <a:t>問題 2：FLOW 是哪個藥的腎臟試驗？</a:t>
            </a:r>
          </a:p>
          <a:p>
            <a:pPr>
              <a:defRPr sz="1200">
                <a:solidFill>
                  <a:srgbClr val="4DD9CF"/>
                </a:solidFill>
                <a:latin typeface="Microsoft JhengHei"/>
              </a:defRPr>
            </a:pPr>
            <a:r>
              <a:t>  💡 關鍵對齊：Semaglutide 1 mg。C008  （點擊或參考演講備註；回指複習 P15）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50080"/>
            <a:ext cx="10728655" cy="10363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F4F8"/>
                </a:solidFill>
                <a:latin typeface="Microsoft JhengHei"/>
              </a:defRPr>
            </a:pPr>
            <a:r>
              <a:t>問題 3：SURPASS-2／SURMOUNT-5 的 semaglutide 劑量？</a:t>
            </a:r>
          </a:p>
          <a:p>
            <a:pPr>
              <a:defRPr sz="1200">
                <a:solidFill>
                  <a:srgbClr val="4DD9CF"/>
                </a:solidFill>
                <a:latin typeface="Microsoft JhengHei"/>
              </a:defRPr>
            </a:pPr>
            <a:r>
              <a:t>  💡 關鍵對齊：1 mg／1.7 或 2.4 mg。C004／C005（亦見 P09）  （點擊或參考演講備註；回指複習 P07）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P15 / 腎臟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FLOW：腎臟證據歸屬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腎臟 outcome 試驗屬於 semaglutide 1 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試驗族群：T2D＋CKD · N=3533 · 中位 3.4 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中期分析建議早停；Novo Nordisk 資助。不能轉成 tirzepatide class effect 或所有 CKD／透析的證據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7519" y="2377440"/>
            <a:ext cx="19050" cy="2651760"/>
          </a:xfrm>
          <a:prstGeom prst="rect">
            <a:avLst/>
          </a:prstGeom>
          <a:solidFill>
            <a:srgbClr val="AA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879" y="5029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C3D9"/>
                </a:solidFill>
                <a:latin typeface="Microsoft JhengHei"/>
              </a:defRPr>
            </a:pPr>
            <a:r>
              <a:t>HR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腎主要複合（含 CV death）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DD9CF"/>
                </a:solidFill>
                <a:latin typeface="Microsoft JhengHei"/>
              </a:defRPr>
            </a:pPr>
            <a:r>
              <a:t>HR 0.76 (95% CI 0.66–0.88)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2240" y="2697480"/>
            <a:ext cx="2682239" cy="50800"/>
          </a:xfrm>
          <a:prstGeom prst="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28287" y="2633472"/>
            <a:ext cx="146304" cy="146304"/>
          </a:xfrm>
          <a:prstGeom prst="ellipse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Semaglutide 1 mg vs placebo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9184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主要複合 331 vs 410 事件；P=.0003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48056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eGFR／UACR 雙軌收案，完整條件見來源註記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P16 / 腎臟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Tirzepatide 腎臟探索性訊號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SURPASS-CVOT 預定探索性分析 · 2026 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試驗族群：T2D＋ASCVD · mITT N=13165 · 中位 4.0 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EXPLORATORY／abstract-only：未完成全文、SAP 與 multiplicity 審核，不升格 confirmatory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7519" y="2377440"/>
            <a:ext cx="19050" cy="2651760"/>
          </a:xfrm>
          <a:prstGeom prst="rect">
            <a:avLst/>
          </a:prstGeom>
          <a:solidFill>
            <a:srgbClr val="AAC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879" y="5029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C3D9"/>
                </a:solidFill>
                <a:latin typeface="Microsoft JhengHei"/>
              </a:defRPr>
            </a:pPr>
            <a:r>
              <a:t>HR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F4F8"/>
                </a:solidFill>
                <a:latin typeface="Microsoft JhengHei"/>
              </a:defRPr>
            </a:pPr>
            <a:r>
              <a:t>腎複合（探索性）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DD9CF"/>
                </a:solidFill>
                <a:latin typeface="Microsoft JhengHei"/>
              </a:defRPr>
            </a:pPr>
            <a:r>
              <a:t>HR 0.77 (95% CI 0.68–0.88)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697480"/>
            <a:ext cx="2438399" cy="50800"/>
          </a:xfrm>
          <a:prstGeom prst="rect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0207" y="2633472"/>
            <a:ext cx="146304" cy="146304"/>
          </a:xfrm>
          <a:prstGeom prst="ellipse">
            <a:avLst/>
          </a:prstGeom>
          <a:solidFill>
            <a:srgbClr val="4DD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腎複合：6.0% vs 7.6%；P=.0002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9184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含新發持續 macroalbuminuria，與 FLOW 定義不同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480560"/>
            <a:ext cx="3230575" cy="1005840"/>
          </a:xfrm>
          <a:prstGeom prst="roundRect">
            <a:avLst/>
          </a:prstGeom>
          <a:solidFill>
            <a:srgbClr val="111D3C"/>
          </a:solidFill>
          <a:ln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8F4F8"/>
                </a:solidFill>
                <a:latin typeface="Microsoft JhengHei"/>
              </a:defRPr>
            </a:pPr>
            <a:r>
              <a:t>不是新獨立 RCT；腎指標可用 N 各有不同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P17 / 腎臟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GI 反應、體液流失與 AKI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Mounjaro USPI · USA；台灣版本 [TO CONFIRM]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嚴重 gastroparesis 不建議使用；renal PK 不調量不代表腎臟完全安全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3818" cy="34747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持續嘔吐／腹瀉或攝水不足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體液流失，尤其已有腎病或易脫水者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評估體液狀態與腎功能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P18 / 用藥邊界與安全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美國成人劑量原則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Mounjaro USPI · USA；台灣劑量與器型 IFU [TO CONFIRM]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KwikPen 每筆 4 個固定 weekly doses，單一病人使用。排除拆筆格數、跳級、同週拼筆及採購省錢教學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3818" cy="34747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2.5 mg weekly 起始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需要時每次增 2.5 mg，當前劑量至少維持 4 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成人最大 15 mg weekly，並非人人需要達到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P19 / 用藥邊界與安全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美國標示禁忌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Mounjaro USPI · USA；台灣禁忌文句 [TO CONFIRM]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Rodent 甲狀腺 C-cell 腫瘤訊號；人類 MTC 風險尚未確立。禁忌與不建議使用分開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MTC：medullary thyroid carcinoma 個人／家族史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MEN2：multiple endocrine neoplasia syndrome type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Tirzepatide 或賦形劑的嚴重過敏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P20 / 用藥邊界與安全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急性警訊與處置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疑似胰臟炎、嚴重過敏：停藥並立即就醫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USA USPI；台灣文句 [TO CONFIRM]。病人版需醫師審核，不提供自行重啟建議。P10 回升考量不阻礙急性停藥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持續嚴重腹痛：立即評估疑似胰臟炎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呼吸困難／顏面腫脹：立即評估嚴重過敏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急性膽囊疾病、視網膜病變併發亦需說明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P21 / 用藥邊界與安全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併用 insulin 或 sulfonylurea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併用 secretagogue 會增加低血糖風險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Mounjaro USPI · USA；台灣文句 [TO CONFIRM]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醫療團隊評估是否減少併藥劑量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不提供通用減量百分比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病人不要自行減藥，也不能說單藥零低血糖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P22 / 用藥邊界與安全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胃排空延遲的兩個臨床場景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口服荷爾蒙避孕藥與麻醉／深鎮靜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USA 標示；無通用仿單停藥天數。妊娠計畫間隔與台灣麻醉流程 [TO CONFIRM]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口服荷爾蒙避孕藥：開始及每次升量後 4 週，改非口服方法或加屏障法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麻醉／深鎮靜：有 aspiration 風險，預先告知程序團隊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USPI 資料不足以判定暫停用藥能否降低胃殘留風險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P23 / 證據邊界與收尾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證據邊界總表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每個結論保留它的藥物、族群與終點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動物或其他 GLP-1 RA 結果不能當 tirzepatide 人體證據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易誤用語句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正確對齊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直接抗炎／心腎全面受益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機制、biomarker 與 clinical outcome 分層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手術般療效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報告試驗結果與適用限制，避免比喻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FLOW 外推 tirzepatide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FLOW 證據歸 semaglutide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SUMMIT 等於 CV death 獲益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只報複合終點獲益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混用 semaglutide 劑量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SURPASS-2：1 mg；SURMOUNT-5：1.7／2.4 mg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P24 / 證據邊界與收尾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上線前待核事項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[TO CONFIRM] 保持可見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未過 gate 前不做台灣個別處方／劑量圖，也不發布相對應未核內容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P001：台灣完整仿單、強度／器型 IFU 與給付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0116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P002：補充資料、SAP、critical correspondence 與 multiplicity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0027" cy="16459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P003：妊娠停藥間隔、台灣麻醉流程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3840480"/>
            <a:ext cx="5250027" cy="16459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A261"/>
                </a:solidFill>
                <a:latin typeface="Microsoft JhengHei"/>
              </a:defRPr>
            </a:pPr>
            <a:r>
              <a:t>04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作者／機構／COI：[TO CONFIRM]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P25 / 證據邊界與收尾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先對齊，再選擇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三行帶走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回到臨床問題，再核對分子、族群、終點與當地核准資訊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3818" cy="3474720"/>
          </a:xfrm>
          <a:prstGeom prst="roundRect">
            <a:avLst/>
          </a:prstGeom>
          <a:solidFill>
            <a:srgbClr val="111D3C"/>
          </a:solidFill>
          <a:ln w="19050">
            <a:solidFill>
              <a:srgbClr val="4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01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分子、品牌與 jurisdiction，各自有座標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02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療效數字綁定試驗族群與 comparator 劑量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2011680"/>
            <a:ext cx="3423818" cy="3474720"/>
          </a:xfrm>
          <a:prstGeom prst="roundRect">
            <a:avLst/>
          </a:prstGeom>
          <a:solidFill>
            <a:srgbClr val="111D3C"/>
          </a:solidFill>
          <a:ln w="12700">
            <a:solidFill>
              <a:srgbClr val="29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03</a:t>
            </a:r>
          </a:p>
          <a:p>
            <a:pPr>
              <a:defRPr sz="1400">
                <a:solidFill>
                  <a:srgbClr val="E8F4F8"/>
                </a:solidFill>
                <a:latin typeface="Microsoft JhengHei"/>
              </a:defRPr>
            </a:pPr>
            <a:r>
              <a:t>探索性、複合終點、US-only 與 pending，都是結論的一部分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D9CF"/>
                </a:solidFill>
                <a:latin typeface="Microsoft JhengHei"/>
              </a:defRPr>
            </a:pPr>
            <a:r>
              <a:t>P26 / 證據邊界與收尾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65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C3D9"/>
                </a:solidFill>
                <a:latin typeface="Microsoft JhengHei"/>
              </a:defRPr>
            </a:pPr>
            <a:r>
              <a:t>證據截止 2026-10-29 · 專業教育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F4F8"/>
                </a:solidFill>
                <a:latin typeface="Microsoft JhengHei"/>
              </a:defRPr>
            </a:pPr>
            <a:r>
              <a:t>證據來源與版本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3D9"/>
                </a:solidFill>
                <a:latin typeface="Microsoft JhengHei"/>
              </a:defRPr>
            </a:pPr>
            <a:r>
              <a:t>證據截止 2026-10-29 · v0.2-review · house style S16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15000"/>
            <a:ext cx="10728655" cy="594360"/>
          </a:xfrm>
          <a:prstGeom prst="rect">
            <a:avLst/>
          </a:prstGeom>
          <a:solidFill>
            <a:srgbClr val="251D2B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A261"/>
                </a:solidFill>
                <a:latin typeface="Microsoft JhengHei"/>
              </a:defRPr>
            </a:pPr>
            <a:r>
              <a:t>【邊界與限制】 S10／S11／S14 不作主要依據。逐頁來源註記對應 claim ledger；正式發布另需授權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89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ID／文件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版本或 DOI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DD9CF"/>
                          </a:solidFill>
                          <a:latin typeface="Microsoft JhengHei"/>
                        </a:defRPr>
                      </a:pPr>
                      <a:r>
                        <a:t>範圍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S01 SURPASS-2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10.1056/NEJMoa2107519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原始試驗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S02 SURMOUNT-5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10.1056/NEJMoa2416394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原始試驗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S03 SUMMIT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10.1056/NEJMoa2410027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原始試驗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S04 STEP-HFpEF DM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10.1056/NEJMoa2313917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原始試驗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S05 FLOW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10.1056/NEJMoa2403347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原始試驗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S06 SURPASS-CVOT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10.1056/NEJMoa2505928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原始試驗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S07 Mounjaro 美國 USPI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2026-08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S08 Zepbound 美國 USPI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2026-08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S09 TFDA：我國減重及降血脂藥品供應穩定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2025-11-10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台灣 scope-only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S12 SURPASS-CVOT 預定探索性腎臟分析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10.1016/S2213-8587(26)00032-X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探索性／摘要</a:t>
                      </a:r>
                    </a:p>
                  </a:txBody>
                  <a:tcPr>
                    <a:solidFill>
                      <a:srgbClr val="0D153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S13 SURMOUNT-4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10.1001/jama.2023.24945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8F4F8"/>
                          </a:solidFill>
                          <a:latin typeface="Microsoft JhengHei"/>
                        </a:defRPr>
                      </a:pPr>
                      <a:r>
                        <a:t>摘要核讀</a:t>
                      </a:r>
                    </a:p>
                  </a:txBody>
                  <a:tcPr>
                    <a:solidFill>
                      <a:srgbClr val="111D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