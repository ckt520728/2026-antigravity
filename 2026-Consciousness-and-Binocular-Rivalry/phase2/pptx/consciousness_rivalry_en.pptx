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1"/>
  </p:sldMasterIdLst>
  <p:sldIdLst>
    <p:sldId id="256" r:id="rIdSlide1"/>
    <p:sldId id="257" r:id="rIdSlide2"/>
    <p:sldId id="258" r:id="rIdSlide3"/>
    <p:sldId id="259" r:id="rIdSlide4"/>
    <p:sldId id="260" r:id="rIdSlide5"/>
    <p:sldId id="261" r:id="rIdSlide6"/>
    <p:sldId id="262" r:id="rIdSlide7"/>
    <p:sldId id="263" r:id="rIdSlide8"/>
    <p:sldId id="264" r:id="rIdSlide9"/>
    <p:sldId id="265" r:id="rIdSlide10"/>
    <p:sldId id="266" r:id="rIdSlide11"/>
    <p:sldId id="267" r:id="rIdSlide12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Master1" Type="http://schemas.openxmlformats.org/officeDocument/2006/relationships/slideMaster" Target="slideMasters/slideMaster1.xml"/>
  <Relationship Id="rIdSlide1" Type="http://schemas.openxmlformats.org/officeDocument/2006/relationships/slide" Target="slides/slide1.xml"/>
  <Relationship Id="rIdSlide2" Type="http://schemas.openxmlformats.org/officeDocument/2006/relationships/slide" Target="slides/slide2.xml"/>
  <Relationship Id="rIdSlide3" Type="http://schemas.openxmlformats.org/officeDocument/2006/relationships/slide" Target="slides/slide3.xml"/>
  <Relationship Id="rIdSlide4" Type="http://schemas.openxmlformats.org/officeDocument/2006/relationships/slide" Target="slides/slide4.xml"/>
  <Relationship Id="rIdSlide5" Type="http://schemas.openxmlformats.org/officeDocument/2006/relationships/slide" Target="slides/slide5.xml"/>
  <Relationship Id="rIdSlide6" Type="http://schemas.openxmlformats.org/officeDocument/2006/relationships/slide" Target="slides/slide6.xml"/>
  <Relationship Id="rIdSlide7" Type="http://schemas.openxmlformats.org/officeDocument/2006/relationships/slide" Target="slides/slide7.xml"/>
  <Relationship Id="rIdSlide8" Type="http://schemas.openxmlformats.org/officeDocument/2006/relationships/slide" Target="slides/slide8.xml"/>
  <Relationship Id="rIdSlide9" Type="http://schemas.openxmlformats.org/officeDocument/2006/relationships/slide" Target="slides/slide9.xml"/>
  <Relationship Id="rIdSlide10" Type="http://schemas.openxmlformats.org/officeDocument/2006/relationships/slide" Target="slides/slide10.xml"/>
  <Relationship Id="rIdSlide11" Type="http://schemas.openxmlformats.org/officeDocument/2006/relationships/slide" Target="slides/slide11.xml"/>
  <Relationship Id="rIdSlide12" Type="http://schemas.openxmlformats.org/officeDocument/2006/relationships/slide" Target="slides/slide12.xml"/>
</Relationships>
</file>

<file path=ppt/notesSlides/_rels/notesSlide1.xml.rels><?xml version="1.0" encoding="UTF-8" standalone="yes"?>
<Relationships xmlns="http://schemas.openxmlformats.org/package/2006/relationships">
  <Relationship Id="rIdSlide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Slide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Slide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Slide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Slide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Slide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Slide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Slide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Slide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Slide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Slide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Slide" Type="http://schemas.openxmlformats.org/officeDocument/2006/relationships/slide" Target="../slides/slide1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Body"/>
          <p:cNvSpPr txBox="1"/>
          <p:nvPr/>
        </p:nvSpPr>
        <p:spPr>
          <a:xfrm>
            <a:off x="685800" y="685800"/>
            <a:ext cx="5486400" cy="7772400"/>
          </a:xfrm>
        </p:spPr>
        <p:txBody>
          <a:bodyPr vert="horz" lIns="91440" tIns="45720" rIns="91440" bIns="45720"/>
          <a:p>
            <a:r>
              <a:rPr lang="en-US" sz="1200">
                <a:solidFill>
                  <a:srgbClr val="000000"/>
                </a:solidFill>
              </a:rPr>
              <a:t>Welcome audience. Presenting Doris Tsao's lab preprint posted October 16, 2026. Crucially emphasize: bioRxiv preprint, not yet peer reviewed. Cites F01, F02, F03, F05, F06.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Body"/>
          <p:cNvSpPr txBox="1"/>
          <p:nvPr/>
        </p:nvSpPr>
        <p:spPr>
          <a:xfrm>
            <a:off x="685800" y="685800"/>
            <a:ext cx="5486400" cy="7772400"/>
          </a:xfrm>
        </p:spPr>
        <p:txBody>
          <a:bodyPr vert="horz" lIns="91440" tIns="45720" rIns="91440" bIns="45720"/>
          <a:p>
            <a:r>
              <a:rPr lang="en-US" sz="1200">
                <a:solidFill>
                  <a:srgbClr val="000000"/>
                </a:solidFill>
              </a:rPr>
              <a:t>Review binocular rivalry and flash suppression history (Logothetis, Sheinberg). Explain that past studies averaged over hundreds of milliseconds, revealing only a weak modulation slope of ~0.23. Cites F09, F27.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Body"/>
          <p:cNvSpPr txBox="1"/>
          <p:nvPr/>
        </p:nvSpPr>
        <p:spPr>
          <a:xfrm>
            <a:off x="685800" y="685800"/>
            <a:ext cx="5486400" cy="7772400"/>
          </a:xfrm>
        </p:spPr>
        <p:txBody>
          <a:bodyPr vert="horz" lIns="91440" tIns="45720" rIns="91440" bIns="45720"/>
          <a:p>
            <a:r>
              <a:rPr lang="en-US" sz="1200">
                <a:solidFill>
                  <a:srgbClr val="000000"/>
                </a:solidFill>
              </a:rPr>
              <a:t>Detail BFS: prime for 1 or 2s, flash to other eye. Flash dominates in 82% of trials (t(13)=9.4). Eliminates motor report confounds. Cites F09, F11, F12, F13, F14, F25.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Body"/>
          <p:cNvSpPr txBox="1"/>
          <p:nvPr/>
        </p:nvSpPr>
        <p:spPr>
          <a:xfrm>
            <a:off x="685800" y="685800"/>
            <a:ext cx="5486400" cy="7772400"/>
          </a:xfrm>
        </p:spPr>
        <p:txBody>
          <a:bodyPr vert="horz" lIns="91440" tIns="45720" rIns="91440" bIns="45720"/>
          <a:p>
            <a:r>
              <a:rPr lang="en-US" sz="1200">
                <a:solidFill>
                  <a:srgbClr val="000000"/>
                </a:solidFill>
              </a:rPr>
              <a:t>Describe recordings: 2 monkeys, Neuropixels 1.0 NHP. Patches ML and AM in IT, PO and PVL in PFC. 3,501 visual units, 661 PFC units. Cites F15, F16, F17, F18, F19.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Body"/>
          <p:cNvSpPr txBox="1"/>
          <p:nvPr/>
        </p:nvSpPr>
        <p:spPr>
          <a:xfrm>
            <a:off x="685800" y="685800"/>
            <a:ext cx="5486400" cy="7772400"/>
          </a:xfrm>
        </p:spPr>
        <p:txBody>
          <a:bodyPr vert="horz" lIns="91440" tIns="45720" rIns="91440" bIns="45720"/>
          <a:p>
            <a:r>
              <a:rPr lang="en-US" sz="1200">
                <a:solidFill>
                  <a:srgbClr val="000000"/>
                </a:solidFill>
              </a:rPr>
              <a:t>Explain analytical approach: no-report removes motor confounds. 10 ms bin Poisson LLR and 2-state Poisson HMM. 2-state model won in 19/19 sessions. Cites F23, F29, F38.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Body"/>
          <p:cNvSpPr txBox="1"/>
          <p:nvPr/>
        </p:nvSpPr>
        <p:spPr>
          <a:xfrm>
            <a:off x="685800" y="685800"/>
            <a:ext cx="5486400" cy="7772400"/>
          </a:xfrm>
        </p:spPr>
        <p:txBody>
          <a:bodyPr vert="horz" lIns="91440" tIns="45720" rIns="91440" bIns="45720"/>
          <a:p>
            <a:r>
              <a:rPr lang="en-US" sz="1200">
                <a:solidFill>
                  <a:srgbClr val="000000"/>
                </a:solidFill>
              </a:rPr>
              <a:t>Highlight the core breakthrough: ~15 Hz alternation (~60 ms dwell time). State 1 decodes conscious face &gt;61% vs 4% suppressed. Cites F28, F30, F31, F32, F36, F67.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Body"/>
          <p:cNvSpPr txBox="1"/>
          <p:nvPr/>
        </p:nvSpPr>
        <p:spPr>
          <a:xfrm>
            <a:off x="685800" y="685800"/>
            <a:ext cx="5486400" cy="7772400"/>
          </a:xfrm>
        </p:spPr>
        <p:txBody>
          <a:bodyPr vert="horz" lIns="91440" tIns="45720" rIns="91440" bIns="45720"/>
          <a:p>
            <a:r>
              <a:rPr lang="en-US" sz="1200">
                <a:solidFill>
                  <a:srgbClr val="000000"/>
                </a:solidFill>
              </a:rPr>
              <a:t>Emphasize: the suppressed face is not lost or blurred. It occupies the full 50-D face space. Same neurons represent both faces. Firing rate in State 2 is slightly higher. Cites F41, F42, F53.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Body"/>
          <p:cNvSpPr txBox="1"/>
          <p:nvPr/>
        </p:nvSpPr>
        <p:spPr>
          <a:xfrm>
            <a:off x="685800" y="685800"/>
            <a:ext cx="5486400" cy="7772400"/>
          </a:xfrm>
        </p:spPr>
        <p:txBody>
          <a:bodyPr vert="horz" lIns="91440" tIns="45720" rIns="91440" bIns="45720"/>
          <a:p>
            <a:r>
              <a:rPr lang="en-US" sz="1200">
                <a:solidFill>
                  <a:srgbClr val="000000"/>
                </a:solidFill>
              </a:rPr>
              <a:t>Clarify quantitative metrics: 1.21 tuning gain ratio (r=0.90) is the effect size. Cite p = 3x10^-40 only in comparison context of conscious gain vs suppressed gain. Cites F39, F40.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Body"/>
          <p:cNvSpPr txBox="1"/>
          <p:nvPr/>
        </p:nvSpPr>
        <p:spPr>
          <a:xfrm>
            <a:off x="685800" y="685800"/>
            <a:ext cx="5486400" cy="7772400"/>
          </a:xfrm>
        </p:spPr>
        <p:txBody>
          <a:bodyPr vert="horz" lIns="91440" tIns="45720" rIns="91440" bIns="45720"/>
          <a:p>
            <a:r>
              <a:rPr lang="en-US" sz="1200">
                <a:solidFill>
                  <a:srgbClr val="000000"/>
                </a:solidFill>
              </a:rPr>
              <a:t>Explain resolution: 15 Hz alternation of opposite gain signals cancels out when averaged over 500-700 ms, producing the flat 0.23 slope seen in earlier literature. Gain equalization leaves r = -0.02. Cites F27, F43.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Body"/>
          <p:cNvSpPr txBox="1"/>
          <p:nvPr/>
        </p:nvSpPr>
        <p:spPr>
          <a:xfrm>
            <a:off x="685800" y="685800"/>
            <a:ext cx="5486400" cy="7772400"/>
          </a:xfrm>
        </p:spPr>
        <p:txBody>
          <a:bodyPr vert="horz" lIns="91440" tIns="45720" rIns="91440" bIns="45720"/>
          <a:p>
            <a:r>
              <a:rPr lang="en-US" sz="1200">
                <a:solidFill>
                  <a:srgbClr val="000000"/>
                </a:solidFill>
              </a:rPr>
              <a:t>Discuss cortical scope: PFC patches PO and PVL show similar ~15 Hz alternation. Reconstruction quality is lower in PFC. Authors suggest temporal multiplexing is a widespread cortical phenomenon. Cites F47, F48, F50, F52.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Body"/>
          <p:cNvSpPr txBox="1"/>
          <p:nvPr/>
        </p:nvSpPr>
        <p:spPr>
          <a:xfrm>
            <a:off x="685800" y="685800"/>
            <a:ext cx="5486400" cy="7772400"/>
          </a:xfrm>
        </p:spPr>
        <p:txBody>
          <a:bodyPr vert="horz" lIns="91440" tIns="45720" rIns="91440" bIns="45720"/>
          <a:p>
            <a:r>
              <a:rPr lang="en-US" sz="1200">
                <a:solidFill>
                  <a:srgbClr val="000000"/>
                </a:solidFill>
              </a:rPr>
              <a:t>Enforce guardrails: F57 ('consciousness has a frame rate') is contradicted and false. Tsao clarified they did not prove a frame rate. Paper does not cite GNWT/IIT. 15 Hz is not theta or alpha. Cites F55, F56, F57.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Body"/>
          <p:cNvSpPr txBox="1"/>
          <p:nvPr/>
        </p:nvSpPr>
        <p:spPr>
          <a:xfrm>
            <a:off x="685800" y="685800"/>
            <a:ext cx="5486400" cy="7772400"/>
          </a:xfrm>
        </p:spPr>
        <p:txBody>
          <a:bodyPr vert="horz" lIns="91440" tIns="45720" rIns="91440" bIns="45720"/>
          <a:p>
            <a:r>
              <a:rPr lang="en-US" sz="1200">
                <a:solidFill>
                  <a:srgbClr val="000000"/>
                </a:solidFill>
              </a:rPr>
              <a:t>Conclude presentation: summarize 15 Hz multiplexing, open questions regarding readout and switching mechanism. Remind audience of preprint status, 2 monkeys, face stimuli only. Cites F01, F15, F54.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
  <Relationship Id="rIdMaster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Layout1" Type="http://schemas.openxmlformats.org/officeDocument/2006/relationships/slideLayout" Target="../slideLayouts/slideLayout1.xml"/>
  <Relationship Id="rIdTheme1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Layout1"/>
  </p:sldLayoutIdLst>
</p:sldMaster>
</file>

<file path=ppt/slides/_rels/slide1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  <Relationship Id="rIdNotes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  <Relationship Id="rIdNotes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  <Relationship Id="rIdNotes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  <Relationship Id="rIdNotes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  <Relationship Id="rIdNotes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  <Relationship Id="rIdNotes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  <Relationship Id="rIdNotes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  <Relationship Id="rIdNotes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  <Relationship Id="rIdNotes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  <Relationship Id="rIdNotes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  <Relationship Id="rIdNotes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  <Relationship Id="rIdNotes" Type="http://schemas.openxmlformats.org/officeDocument/2006/relationships/notesSlide" Target="../notesSlides/notesSlide12.xml"/>
</Relationships>
</file>

<file path=ppt/slides/slide1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spTree>
      <p:nvGrpSpPr><p:cNvPr id="1" name=""/><p:cNvGrpSpPr/><p:nvPr/></p:nvGrpSpPr>
      <p:grpSpPr><a:xfrm><a:off x="0" y="0"/><a:ext cx="0" cy="0"/><a:chOff x="0" y="0"/><a:chExt cx="0" cy="0"/></a:xfrm></p:grpSpPr>
      
      <!-- Background Shape -->
      <p:sp>
        <p:nvSpPr><p:cNvPr id="2" name="SlideBg"/><p:cNvSpPr><a:spLocks noGrp="1"/></p:cNvSpPr><p:nvPr/></p:nvSpPr>
        <p:spPr>
          <a:xfrm><a:off x="0" y="0"/><a:ext cx="12192000" cy="6858000"/></a:xfrm>
          <a:prstGeom prst="rect"><a:avLst/></a:prstGeom>
          <a:solidFill><a:srgbClr val="0B0F19"/></a:solidFill>
        </p:spPr>
      </p:sp>

      <!-- Card Container Box -->
      <p:sp>
        <p:nvSpPr><p:cNvPr id="3" name="CardBox"/><p:cNvSpPr/><p:nvPr/></p:nvSpPr>
        <p:spPr>
          <a:xfrm><a:off x="685800" y="548640"/><a:ext cx="10820400" cy="5760720"/></a:xfrm>
          <a:prstGeom prst="roundRect"><a:avLst><a:gd name="adj" fmla="val 2000"/></a:avLst></a:prstGeom>
          <a:solidFill><a:srgbClr val="151D30"/></a:solidFill>
          <a:ln w="12700"><a:solidFill><a:srgbClr val="23304C"/></a:solidFill></a:ln>
        </p:spPr>
      </p:sp>

      <!-- Category Label -->
      <p:sp>
        <p:nvSpPr><p:cNvPr id="4" name="Category"/><p:cNvSpPr txBox="1"/><p:nvPr/></p:nvSpPr>
        <p:spPr><a:xfrm><a:off x="1097280" y="822960"/><a:ext cx="9997440" cy="400000"/></a:xfrm></p:spPr>
        <p:txBody>
          <a:bodyPr vert="horz" lIns="0" tIns="0" rIns="0" bIns="0"/>
          <a:p>
            <a:r>
              <a:rPr lang="en-US" sz="1300" b="1">
                <a:solidFill><a:srgbClr val="38BDF8"/></a:solidFill>
              </a:rPr>
              <a:t>VISUAL NEUROSCIENCE &amp; CONSCIOUSNESS</a:t>
            </a:r>
          </a:p>
        </p:txBody>
      </p:sp>

      <!-- Main Title -->
      <p:sp>
        <p:nvSpPr><p:cNvPr id="5" name="Title"/><p:cNvSpPr txBox="1"/><p:nvPr/></p:nvSpPr>
        <p:spPr><a:xfrm><a:off x="1097280" y="1234440"/><a:ext cx="9997440" cy="900000"/></a:xfrm></p:spPr>
        <p:txBody>
          <a:bodyPr vert="horz" lIns="0" tIns="0" rIns="0" bIns="0"/>
          <a:p>
            <a:r>
              <a:rPr lang="en-US" sz="2600" b="1">
                <a:solidFill><a:srgbClr val="FFFFFF"/></a:solidFill>
              </a:rPr>
              <a:t>Rapid Alternation of Conscious &amp; Suppressed Stimulus Representations in the Primate Brain</a:t>
            </a:r>
          </a:p>
        </p:txBody>
      </p:sp>

      <!-- Subtitle -->
      <p:sp>
        <p:nvSpPr><p:cNvPr id="6" name="Subtitle"/><p:cNvSpPr txBox="1"/><p:nvPr/></p:nvSpPr>
        <p:spPr><a:xfrm><a:off x="1097280" y="2140000"/><a:ext cx="9997440" cy="400000"/></a:xfrm></p:spPr>
        <p:txBody>
          <a:bodyPr vert="horz" lIns="0" tIns="0" rIns="0" bIns="0"/>
          <a:p>
            <a:r>
              <a:rPr lang="en-US" sz="1500" i="1">
                <a:solidFill><a:srgbClr val="94A3B8"/></a:solidFill>
              </a:rPr>
              <a:t>Doris Tsao Lab (Oct 2026 bioRxiv preprint) &amp;bull; Janis Hesse et al.</a:t>
            </a:r>
          </a:p>
        </p:txBody>
      </p:sp>

      <!-- Bullet Points -->
      <p:sp>
        <p:nvSpPr><p:cNvPr id="7" name="Bullets"/><p:cNvSpPr txBox="1"/><p:nvPr/></p:nvSpPr>
        <p:spPr><a:xfrm><a:off x="1097280" y="2650000"/><a:ext cx="9997440" cy="3000000"/></a:xfrm></p:spPr>
        <p:txBody>
          <a:bodyPr vert="horz" lIns="0" tIns="0" rIns="0" bIns="0"/>

      <a:p>
        <a:pPr marL="285750" indent="-285750">
          <a:buFont typeface="Arial"/>
          <a:buChar char="&bull;"/>
        </a:pPr>
        <a:r>
          <a:rPr lang="en-US" sz="2000" b="0">
            <a:solidFill><a:srgbClr val="CBD5E1"/></a:solidFill>
          </a:rPr>
          <a:t>Key question: How does the primate brain represent sensory stimuli during visual suppression?</a:t>
        </a:r>
      </a:p>
      <a:p><a:pPr><a:spcBfr><a:spcPts val="1200"/></a:spcBfr></a:pPr></a:p>
      <a:p>
        <a:pPr marL="285750" indent="-285750">
          <a:buFont typeface="Arial"/>
          <a:buChar char="&bull;"/>
        </a:pPr>
        <a:r>
          <a:rPr lang="en-US" sz="2000" b="0">
            <a:solidFill><a:srgbClr val="CBD5E1"/></a:solidFill>
          </a:rPr>
          <a:t>Core discovery: Neural populations rapidly alternate (~15 Hz) between conscious and suppressed states.</a:t>
        </a:r>
      </a:p>
      <a:p><a:pPr><a:spcBfr><a:spcPts val="1200"/></a:spcBfr></a:pPr></a:p>
      <a:p>
        <a:pPr marL="285750" indent="-285750">
          <a:buFont typeface="Arial"/>
          <a:buChar char="&bull;"/>
        </a:pPr>
        <a:r>
          <a:rPr lang="en-US" sz="2000" b="0">
            <a:solidFill><a:srgbClr val="CBD5E1"/></a:solidFill>
          </a:rPr>
          <a:t>Authors: Hesse, Lanfranchi, McGrory, Shi, Engel, and Doris Y. Tsao (UC Berkeley, Caltech, Princeton, HHMI).</a:t>
        </a:r>
      </a:p>
      <a:p><a:pPr><a:spcBfr><a:spcPts val="1200"/></a:spcBfr></a:pPr></a:p>
      <a:p>
        <a:pPr marL="285750" indent="-285750">
          <a:buFont typeface="Arial"/>
          <a:buChar char="&bull;"/>
        </a:pPr>
        <a:r>
          <a:rPr lang="en-US" sz="2000" b="0">
            <a:solidFill><a:srgbClr val="CBD5E1"/></a:solidFill>
          </a:rPr>
          <a:t>Status: bioRxiv preprint, not yet peer reviewed (posted Oct 16, 2026; DOI: 10.64898/2026.10.15.759299).</a:t>
        </a:r>
      </a:p>
      <a:p><a:pPr><a:spcBfr><a:spcPts val="1200"/></a:spcBfr></a:pPr></a:p>
        </p:txBody>
      </p:sp>

      <!-- Footer Text -->
      <p:sp>
        <p:nvSpPr><p:cNvPr id="8" name="Footer"/><p:cNvSpPr txBox="1"/><p:nvPr/></p:nvSpPr>
        <p:spPr><a:xfrm><a:off x="1097280" y="5780000"/><a:ext cx="9997440" cy="350000"/></a:xfrm></p:spPr>
        <p:txBody>
          <a:bodyPr vert="horz" lIns="0" tIns="0" rIns="0" bIns="0"/>
          <a:p>
            <a:r>
              <a:rPr lang="en-US" sz="1100">
                <a:solidFill><a:srgbClr val="64748B"/></a:solidFill>
              </a:rPr>
              <a:t>bioRxiv preprint, not yet peer reviewed &amp;bull; DOI 10.64898/2026.10.15.759299</a:t>
            </a:r>
          </a:p>
        </p:txBody>
      </p:sp>

    </p:spTree>
  </p:cSld>
  <p:clrMapOvr><a:masterClrMapping/></p:clrMapOvr>
</p:sld>
</file>

<file path=ppt/slides/slide2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spTree>
      <p:nvGrpSpPr><p:cNvPr id="1" name=""/><p:cNvGrpSpPr/><p:nvPr/></p:nvGrpSpPr>
      <p:grpSpPr><a:xfrm><a:off x="0" y="0"/><a:ext cx="0" cy="0"/><a:chOff x="0" y="0"/><a:chExt cx="0" cy="0"/></a:xfrm></p:grpSpPr>
      
      <!-- Background Shape -->
      <p:sp>
        <p:nvSpPr><p:cNvPr id="2" name="SlideBg"/><p:cNvSpPr><a:spLocks noGrp="1"/></p:cNvSpPr><p:nvPr/></p:nvSpPr>
        <p:spPr>
          <a:xfrm><a:off x="0" y="0"/><a:ext cx="12192000" cy="6858000"/></a:xfrm>
          <a:prstGeom prst="rect"><a:avLst/></a:prstGeom>
          <a:solidFill><a:srgbClr val="0B0F19"/></a:solidFill>
        </p:spPr>
      </p:sp>

      <!-- Card Container Box -->
      <p:sp>
        <p:nvSpPr><p:cNvPr id="3" name="CardBox"/><p:cNvSpPr/><p:nvPr/></p:nvSpPr>
        <p:spPr>
          <a:xfrm><a:off x="685800" y="548640"/><a:ext cx="10820400" cy="5760720"/></a:xfrm>
          <a:prstGeom prst="roundRect"><a:avLst><a:gd name="adj" fmla="val 2000"/></a:avLst></a:prstGeom>
          <a:solidFill><a:srgbClr val="151D30"/></a:solidFill>
          <a:ln w="12700"><a:solidFill><a:srgbClr val="23304C"/></a:solidFill></a:ln>
        </p:spPr>
      </p:sp>

      <!-- Category Label -->
      <p:sp>
        <p:nvSpPr><p:cNvPr id="4" name="Category"/><p:cNvSpPr txBox="1"/><p:nvPr/></p:nvSpPr>
        <p:spPr><a:xfrm><a:off x="1097280" y="822960"/><a:ext cx="9997440" cy="400000"/></a:xfrm></p:spPr>
        <p:txBody>
          <a:bodyPr vert="horz" lIns="0" tIns="0" rIns="0" bIns="0"/>
          <a:p>
            <a:r>
              <a:rPr lang="en-US" sz="1300" b="1">
                <a:solidFill><a:srgbClr val="38BDF8"/></a:solidFill>
              </a:rPr>
              <a:t>BACKGROUND &amp; PUZZLE</a:t>
            </a:r>
          </a:p>
        </p:txBody>
      </p:sp>

      <!-- Main Title -->
      <p:sp>
        <p:nvSpPr><p:cNvPr id="5" name="Title"/><p:cNvSpPr txBox="1"/><p:nvPr/></p:nvSpPr>
        <p:spPr><a:xfrm><a:off x="1097280" y="1234440"/><a:ext cx="9997440" cy="900000"/></a:xfrm></p:spPr>
        <p:txBody>
          <a:bodyPr vert="horz" lIns="0" tIns="0" rIns="0" bIns="0"/>
          <a:p>
            <a:r>
              <a:rPr lang="en-US" sz="2600" b="1">
                <a:solidFill><a:srgbClr val="FFFFFF"/></a:solidFill>
              </a:rPr>
              <a:t>The 30-Year Mystery: Weak Modulation in IT Cortex</a:t>
            </a:r>
          </a:p>
        </p:txBody>
      </p:sp>

      <!-- Subtitle -->
      <p:sp>
        <p:nvSpPr><p:cNvPr id="6" name="Subtitle"/><p:cNvSpPr txBox="1"/><p:nvPr/></p:nvSpPr>
        <p:spPr><a:xfrm><a:off x="1097280" y="2140000"/><a:ext cx="9997440" cy="400000"/></a:xfrm></p:spPr>
        <p:txBody>
          <a:bodyPr vert="horz" lIns="0" tIns="0" rIns="0" bIns="0"/>
          <a:p>
            <a:r>
              <a:rPr lang="en-US" sz="1500" i="1">
                <a:solidFill><a:srgbClr val="94A3B8"/></a:solidFill>
              </a:rPr>
              <a:t>Why did neural correlates of consciousness seem so faint?</a:t>
            </a:r>
          </a:p>
        </p:txBody>
      </p:sp>

      <!-- Bullet Points -->
      <p:sp>
        <p:nvSpPr><p:cNvPr id="7" name="Bullets"/><p:cNvSpPr txBox="1"/><p:nvPr/></p:nvSpPr>
        <p:spPr><a:xfrm><a:off x="1097280" y="2650000"/><a:ext cx="9997440" cy="3000000"/></a:xfrm></p:spPr>
        <p:txBody>
          <a:bodyPr vert="horz" lIns="0" tIns="0" rIns="0" bIns="0"/>

      <a:p>
        <a:pPr marL="285750" indent="-285750">
          <a:buFont typeface="Arial"/>
          <a:buChar char="&bull;"/>
        </a:pPr>
        <a:r>
          <a:rPr lang="en-US" sz="2000" b="0">
            <a:solidFill><a:srgbClr val="CBD5E1"/></a:solidFill>
          </a:rPr>
          <a:t>Binocular rivalry dissociates constant retinal input from shifting subjective conscious perception.</a:t>
        </a:r>
      </a:p>
      <a:p><a:pPr><a:spcBfr><a:spcPts val="1200"/></a:spcBfr></a:pPr></a:p>
      <a:p>
        <a:pPr marL="285750" indent="-285750">
          <a:buFont typeface="Arial"/>
          <a:buChar char="&bull;"/>
        </a:pPr>
        <a:r>
          <a:rPr lang="en-US" sz="2000" b="0">
            <a:solidFill><a:srgbClr val="CBD5E1"/></a:solidFill>
          </a:rPr>
          <a:t>Classical expectation: Inferotemporal (IT) face cells should fire strongly for conscious faces and fall silent for suppressed faces.</a:t>
        </a:r>
      </a:p>
      <a:p><a:pPr><a:spcBfr><a:spcPts val="1200"/></a:spcBfr></a:pPr></a:p>
      <a:p>
        <a:pPr marL="285750" indent="-285750">
          <a:buFont typeface="Arial"/>
          <a:buChar char="&bull;"/>
        </a:pPr>
        <a:r>
          <a:rPr lang="en-US" sz="2000" b="0">
            <a:solidFill><a:srgbClr val="CBD5E1"/></a:solidFill>
          </a:rPr>
          <a:t>Empirical paradox: Across 30 years of studies, time-averaged modulation was surprisingly weak (slope &amp;approx; 0.23).</a:t>
        </a:r>
      </a:p>
      <a:p><a:pPr><a:spcBfr><a:spcPts val="1200"/></a:spcBfr></a:pPr></a:p>
      <a:p>
        <a:pPr marL="285750" indent="-285750">
          <a:buFont typeface="Arial"/>
          <a:buChar char="&bull;"/>
        </a:pPr>
        <a:r>
          <a:rPr lang="en-US" sz="2000" b="0">
            <a:solidFill><a:srgbClr val="CBD5E1"/></a:solidFill>
          </a:rPr>
          <a:t>Key scientific dilemma: Does the brain truly discard unseen images, or did time-averaging obscure fine dynamics?</a:t>
        </a:r>
      </a:p>
      <a:p><a:pPr><a:spcBfr><a:spcPts val="1200"/></a:spcBfr></a:pPr></a:p>
        </p:txBody>
      </p:sp>

      <!-- Footer Text -->
      <p:sp>
        <p:nvSpPr><p:cNvPr id="8" name="Footer"/><p:cNvSpPr txBox="1"/><p:nvPr/></p:nvSpPr>
        <p:spPr><a:xfrm><a:off x="1097280" y="5780000"/><a:ext cx="9997440" cy="350000"/></a:xfrm></p:spPr>
        <p:txBody>
          <a:bodyPr vert="horz" lIns="0" tIns="0" rIns="0" bIns="0"/>
          <a:p>
            <a:r>
              <a:rPr lang="en-US" sz="1100">
                <a:solidFill><a:srgbClr val="64748B"/></a:solidFill>
              </a:rPr>
              <a:t>Paradigm &amp; Historical Background &amp;bull; Time-Averaged Slope &amp;approx; 0.23</a:t>
            </a:r>
          </a:p>
        </p:txBody>
      </p:sp>

    </p:spTree>
  </p:cSld>
  <p:clrMapOvr><a:masterClrMapping/></p:clrMapOvr>
</p:sld>
</file>

<file path=ppt/slides/slide3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spTree>
      <p:nvGrpSpPr><p:cNvPr id="1" name=""/><p:cNvGrpSpPr/><p:nvPr/></p:nvGrpSpPr>
      <p:grpSpPr><a:xfrm><a:off x="0" y="0"/><a:ext cx="0" cy="0"/><a:chOff x="0" y="0"/><a:chExt cx="0" cy="0"/></a:xfrm></p:grpSpPr>
      
      <!-- Background Shape -->
      <p:sp>
        <p:nvSpPr><p:cNvPr id="2" name="SlideBg"/><p:cNvSpPr><a:spLocks noGrp="1"/></p:cNvSpPr><p:nvPr/></p:nvSpPr>
        <p:spPr>
          <a:xfrm><a:off x="0" y="0"/><a:ext cx="12192000" cy="6858000"/></a:xfrm>
          <a:prstGeom prst="rect"><a:avLst/></a:prstGeom>
          <a:solidFill><a:srgbClr val="0B0F19"/></a:solidFill>
        </p:spPr>
      </p:sp>

      <!-- Card Container Box -->
      <p:sp>
        <p:nvSpPr><p:cNvPr id="3" name="CardBox"/><p:cNvSpPr/><p:nvPr/></p:nvSpPr>
        <p:spPr>
          <a:xfrm><a:off x="685800" y="548640"/><a:ext cx="10820400" cy="5760720"/></a:xfrm>
          <a:prstGeom prst="roundRect"><a:avLst><a:gd name="adj" fmla="val 2000"/></a:avLst></a:prstGeom>
          <a:solidFill><a:srgbClr val="151D30"/></a:solidFill>
          <a:ln w="12700"><a:solidFill><a:srgbClr val="23304C"/></a:solidFill></a:ln>
        </p:spPr>
      </p:sp>

      <!-- Category Label -->
      <p:sp>
        <p:nvSpPr><p:cNvPr id="4" name="Category"/><p:cNvSpPr txBox="1"/><p:nvPr/></p:nvSpPr>
        <p:spPr><a:xfrm><a:off x="1097280" y="822960"/><a:ext cx="9997440" cy="400000"/></a:xfrm></p:spPr>
        <p:txBody>
          <a:bodyPr vert="horz" lIns="0" tIns="0" rIns="0" bIns="0"/>
          <a:p>
            <a:r>
              <a:rPr lang="en-US" sz="1300" b="1">
                <a:solidFill><a:srgbClr val="38BDF8"/></a:solidFill>
              </a:rPr>
              <a:t>EXPERIMENTAL PARADIGM</a:t>
            </a:r>
          </a:p>
        </p:txBody>
      </p:sp>

      <!-- Main Title -->
      <p:sp>
        <p:nvSpPr><p:cNvPr id="5" name="Title"/><p:cNvSpPr txBox="1"/><p:nvPr/></p:nvSpPr>
        <p:spPr><a:xfrm><a:off x="1097280" y="1234440"/><a:ext cx="9997440" cy="900000"/></a:xfrm></p:spPr>
        <p:txBody>
          <a:bodyPr vert="horz" lIns="0" tIns="0" rIns="0" bIns="0"/>
          <a:p>
            <a:r>
              <a:rPr lang="en-US" sz="2600" b="1">
                <a:solidFill><a:srgbClr val="FFFFFF"/></a:solidFill>
              </a:rPr>
              <a:t>Binocular Flash Suppression (BFS)</a:t>
            </a:r>
          </a:p>
        </p:txBody>
      </p:sp>

      <!-- Subtitle -->
      <p:sp>
        <p:nvSpPr><p:cNvPr id="6" name="Subtitle"/><p:cNvSpPr txBox="1"/><p:nvPr/></p:nvSpPr>
        <p:spPr><a:xfrm><a:off x="1097280" y="2140000"/><a:ext cx="9997440" cy="400000"/></a:xfrm></p:spPr>
        <p:txBody>
          <a:bodyPr vert="horz" lIns="0" tIns="0" rIns="0" bIns="0"/>
          <a:p>
            <a:r>
              <a:rPr lang="en-US" sz="1500" i="1">
                <a:solidFill><a:srgbClr val="94A3B8"/></a:solidFill>
              </a:rPr>
              <a:t>Deterministic perceptual suppression validated in humans at 82%</a:t>
            </a:r>
          </a:p>
        </p:txBody>
      </p:sp>

      <!-- Bullet Points -->
      <p:sp>
        <p:nvSpPr><p:cNvPr id="7" name="Bullets"/><p:cNvSpPr txBox="1"/><p:nvPr/></p:nvSpPr>
        <p:spPr><a:xfrm><a:off x="1097280" y="2650000"/><a:ext cx="9997440" cy="3000000"/></a:xfrm></p:spPr>
        <p:txBody>
          <a:bodyPr vert="horz" lIns="0" tIns="0" rIns="0" bIns="0"/>

      <a:p>
        <a:pPr marL="285750" indent="-285750">
          <a:buFont typeface="Arial"/>
          <a:buChar char="&bull;"/>
        </a:pPr>
        <a:r>
          <a:rPr lang="en-US" sz="2000" b="0">
            <a:solidFill><a:srgbClr val="CBD5E1"/></a:solidFill>
          </a:rPr>
          <a:t>BFS paradigm: A variant of binocular rivalry giving millisecond-precision control over perceptual transitions.</a:t>
        </a:r>
      </a:p>
      <a:p><a:pPr><a:spcBfr><a:spcPts val="1200"/></a:spcBfr></a:pPr></a:p>
      <a:p>
        <a:pPr marL="285750" indent="-285750">
          <a:buFont typeface="Arial"/>
          <a:buChar char="&bull;"/>
        </a:pPr>
        <a:r>
          <a:rPr lang="en-US" sz="2000" b="0">
            <a:solidFill><a:srgbClr val="CBD5E1"/></a:solidFill>
          </a:rPr>
          <a:t>Trial sequence: Priming face presented to one eye (1&amp;ndash;2 s), followed by a flashed face to the opposite eye.</a:t>
        </a:r>
      </a:p>
      <a:p><a:pPr><a:spcBfr><a:spcPts val="1200"/></a:spcBfr></a:pPr></a:p>
      <a:p>
        <a:pPr marL="285750" indent="-285750">
          <a:buFont typeface="Arial"/>
          <a:buChar char="&bull;"/>
        </a:pPr>
        <a:r>
          <a:rPr lang="en-US" sz="2000" b="0">
            <a:solidFill><a:srgbClr val="CBD5E1"/></a:solidFill>
          </a:rPr>
          <a:t>Perceptual takeover: The flashed stimulus reliably suppresses the prime (82% dominance validated in 14 humans).</a:t>
        </a:r>
      </a:p>
      <a:p><a:pPr><a:spcBfr><a:spcPts val="1200"/></a:spcBfr></a:pPr></a:p>
      <a:p>
        <a:pPr marL="285750" indent="-285750">
          <a:buFont typeface="Arial"/>
          <a:buChar char="&bull;"/>
        </a:pPr>
        <a:r>
          <a:rPr lang="en-US" sz="2000" b="0">
            <a:solidFill><a:srgbClr val="CBD5E1"/></a:solidFill>
          </a:rPr>
          <a:t>Visual display: Red-cyan stereoscopic anaglyph glasses at 7&amp;deg; visual angle.</a:t>
        </a:r>
      </a:p>
      <a:p><a:pPr><a:spcBfr><a:spcPts val="1200"/></a:spcBfr></a:pPr></a:p>
        </p:txBody>
      </p:sp>

      <!-- Footer Text -->
      <p:sp>
        <p:nvSpPr><p:cNvPr id="8" name="Footer"/><p:cNvSpPr txBox="1"/><p:nvPr/></p:nvSpPr>
        <p:spPr><a:xfrm><a:off x="1097280" y="5780000"/><a:ext cx="9997440" cy="350000"/></a:xfrm></p:spPr>
        <p:txBody>
          <a:bodyPr vert="horz" lIns="0" tIns="0" rIns="0" bIns="0"/>
          <a:p>
            <a:r>
              <a:rPr lang="en-US" sz="1100">
                <a:solidFill><a:srgbClr val="64748B"/></a:solidFill>
              </a:rPr>
              <a:t>Binocular Flash Suppression Paradigm &amp;bull; Human Validation 82%</a:t>
            </a:r>
          </a:p>
        </p:txBody>
      </p:sp>

    </p:spTree>
  </p:cSld>
  <p:clrMapOvr><a:masterClrMapping/></p:clrMapOvr>
</p:sld>
</file>

<file path=ppt/slides/slide4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spTree>
      <p:nvGrpSpPr><p:cNvPr id="1" name=""/><p:cNvGrpSpPr/><p:nvPr/></p:nvGrpSpPr>
      <p:grpSpPr><a:xfrm><a:off x="0" y="0"/><a:ext cx="0" cy="0"/><a:chOff x="0" y="0"/><a:chExt cx="0" cy="0"/></a:xfrm></p:grpSpPr>
      
      <!-- Background Shape -->
      <p:sp>
        <p:nvSpPr><p:cNvPr id="2" name="SlideBg"/><p:cNvSpPr><a:spLocks noGrp="1"/></p:cNvSpPr><p:nvPr/></p:nvSpPr>
        <p:spPr>
          <a:xfrm><a:off x="0" y="0"/><a:ext cx="12192000" cy="6858000"/></a:xfrm>
          <a:prstGeom prst="rect"><a:avLst/></a:prstGeom>
          <a:solidFill><a:srgbClr val="0B0F19"/></a:solidFill>
        </p:spPr>
      </p:sp>

      <!-- Card Container Box -->
      <p:sp>
        <p:nvSpPr><p:cNvPr id="3" name="CardBox"/><p:cNvSpPr/><p:nvPr/></p:nvSpPr>
        <p:spPr>
          <a:xfrm><a:off x="685800" y="548640"/><a:ext cx="10820400" cy="5760720"/></a:xfrm>
          <a:prstGeom prst="roundRect"><a:avLst><a:gd name="adj" fmla="val 2000"/></a:avLst></a:prstGeom>
          <a:solidFill><a:srgbClr val="151D30"/></a:solidFill>
          <a:ln w="12700"><a:solidFill><a:srgbClr val="23304C"/></a:solidFill></a:ln>
        </p:spPr>
      </p:sp>

      <!-- Category Label -->
      <p:sp>
        <p:nvSpPr><p:cNvPr id="4" name="Category"/><p:cNvSpPr txBox="1"/><p:nvPr/></p:nvSpPr>
        <p:spPr><a:xfrm><a:off x="1097280" y="822960"/><a:ext cx="9997440" cy="400000"/></a:xfrm></p:spPr>
        <p:txBody>
          <a:bodyPr vert="horz" lIns="0" tIns="0" rIns="0" bIns="0"/>
          <a:p>
            <a:r>
              <a:rPr lang="en-US" sz="1300" b="1">
                <a:solidFill><a:srgbClr val="38BDF8"/></a:solidFill>
              </a:rPr>
              <a:t>ELECTROPHYSIOLOGY</a:t>
            </a:r>
          </a:p>
        </p:txBody>
      </p:sp>

      <!-- Main Title -->
      <p:sp>
        <p:nvSpPr><p:cNvPr id="5" name="Title"/><p:cNvSpPr txBox="1"/><p:nvPr/></p:nvSpPr>
        <p:spPr><a:xfrm><a:off x="1097280" y="1234440"/><a:ext cx="9997440" cy="900000"/></a:xfrm></p:spPr>
        <p:txBody>
          <a:bodyPr vert="horz" lIns="0" tIns="0" rIns="0" bIns="0"/>
          <a:p>
            <a:r>
              <a:rPr lang="en-US" sz="2600" b="1">
                <a:solidFill><a:srgbClr val="FFFFFF"/></a:solidFill>
              </a:rPr>
              <a:t>Massive Neuropixels Recording Across 4 Cortical Patches</a:t>
            </a:r>
          </a:p>
        </p:txBody>
      </p:sp>

      <!-- Subtitle -->
      <p:sp>
        <p:nvSpPr><p:cNvPr id="6" name="Subtitle"/><p:cNvSpPr txBox="1"/><p:nvPr/></p:nvSpPr>
        <p:spPr><a:xfrm><a:off x="1097280" y="2140000"/><a:ext cx="9997440" cy="400000"/></a:xfrm></p:spPr>
        <p:txBody>
          <a:bodyPr vert="horz" lIns="0" tIns="0" rIns="0" bIns="0"/>
          <a:p>
            <a:r>
              <a:rPr lang="en-US" sz="1500" i="1">
                <a:solidFill><a:srgbClr val="94A3B8"/></a:solidFill>
              </a:rPr>
              <a:t>High-density single-trial sampling in IT and Prefrontal Cortex</a:t>
            </a:r>
          </a:p>
        </p:txBody>
      </p:sp>

      <!-- Bullet Points -->
      <p:sp>
        <p:nvSpPr><p:cNvPr id="7" name="Bullets"/><p:cNvSpPr txBox="1"/><p:nvPr/></p:nvSpPr>
        <p:spPr><a:xfrm><a:off x="1097280" y="2650000"/><a:ext cx="9997440" cy="3000000"/></a:xfrm></p:spPr>
        <p:txBody>
          <a:bodyPr vert="horz" lIns="0" tIns="0" rIns="0" bIns="0"/>

      <a:p>
        <a:pPr marL="285750" indent="-285750">
          <a:buFont typeface="Arial"/>
          <a:buChar char="&bull;"/>
        </a:pPr>
        <a:r>
          <a:rPr lang="en-US" sz="2000" b="0">
            <a:solidFill><a:srgbClr val="CBD5E1"/></a:solidFill>
          </a:rPr>
          <a:t>Subjects: 2 male rhesus macaques implanted with Neuropixels 1.0 NHP high-density probes.</a:t>
        </a:r>
      </a:p>
      <a:p><a:pPr><a:spcBfr><a:spcPts val="1200"/></a:spcBfr></a:pPr></a:p>
      <a:p>
        <a:pPr marL="285750" indent="-285750">
          <a:buFont typeface="Arial"/>
          <a:buChar char="&bull;"/>
        </a:pPr>
        <a:r>
          <a:rPr lang="en-US" sz="2000" b="0">
            <a:solidFill><a:srgbClr val="CBD5E1"/></a:solidFill>
          </a:rPr>
          <a:t>IT Face Patches: Middle lateral (ML, feature-based) and anterior medial (AM, identity-based) patches.</a:t>
        </a:r>
      </a:p>
      <a:p><a:pPr><a:spcBfr><a:spcPts val="1200"/></a:spcBfr></a:pPr></a:p>
      <a:p>
        <a:pPr marL="285750" indent="-285750">
          <a:buFont typeface="Arial"/>
          <a:buChar char="&bull;"/>
        </a:pPr>
        <a:r>
          <a:rPr lang="en-US" sz="2000" b="0">
            <a:solidFill><a:srgbClr val="CBD5E1"/></a:solidFill>
          </a:rPr>
          <a:t>Prefrontal Patches: Orbital (PO) and ventrolateral (PVL) prefrontal face patches.</a:t>
        </a:r>
      </a:p>
      <a:p><a:pPr><a:spcBfr><a:spcPts val="1200"/></a:spcBfr></a:pPr></a:p>
      <a:p>
        <a:pPr marL="285750" indent="-285750">
          <a:buFont typeface="Arial"/>
          <a:buChar char="&bull;"/>
        </a:pPr>
        <a:r>
          <a:rPr lang="en-US" sz="2000" b="0">
            <a:solidFill><a:srgbClr val="CBD5E1"/></a:solidFill>
          </a:rPr>
          <a:t>Data scale: 3,501 visual responsive units across sessions, including 661 prefrontal cortex neurons.</a:t>
        </a:r>
      </a:p>
      <a:p><a:pPr><a:spcBfr><a:spcPts val="1200"/></a:spcBfr></a:pPr></a:p>
        </p:txBody>
      </p:sp>

      <!-- Footer Text -->
      <p:sp>
        <p:nvSpPr><p:cNvPr id="8" name="Footer"/><p:cNvSpPr txBox="1"/><p:nvPr/></p:nvSpPr>
        <p:spPr><a:xfrm><a:off x="1097280" y="5780000"/><a:ext cx="9997440" cy="350000"/></a:xfrm></p:spPr>
        <p:txBody>
          <a:bodyPr vert="horz" lIns="0" tIns="0" rIns="0" bIns="0"/>
          <a:p>
            <a:r>
              <a:rPr lang="en-US" sz="1100">
                <a:solidFill><a:srgbClr val="64748B"/></a:solidFill>
              </a:rPr>
              <a:t>2 Macaques &amp;bull; 3,501 Visual Units &amp;bull; Patches ML, AM, PO, PVL</a:t>
            </a:r>
          </a:p>
        </p:txBody>
      </p:sp>

    </p:spTree>
  </p:cSld>
  <p:clrMapOvr><a:masterClrMapping/></p:clrMapOvr>
</p:sld>
</file>

<file path=ppt/slides/slide5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spTree>
      <p:nvGrpSpPr><p:cNvPr id="1" name=""/><p:cNvGrpSpPr/><p:nvPr/></p:nvGrpSpPr>
      <p:grpSpPr><a:xfrm><a:off x="0" y="0"/><a:ext cx="0" cy="0"/><a:chOff x="0" y="0"/><a:chExt cx="0" cy="0"/></a:xfrm></p:grpSpPr>
      
      <!-- Background Shape -->
      <p:sp>
        <p:nvSpPr><p:cNvPr id="2" name="SlideBg"/><p:cNvSpPr><a:spLocks noGrp="1"/></p:cNvSpPr><p:nvPr/></p:nvSpPr>
        <p:spPr>
          <a:xfrm><a:off x="0" y="0"/><a:ext cx="12192000" cy="6858000"/></a:xfrm>
          <a:prstGeom prst="rect"><a:avLst/></a:prstGeom>
          <a:solidFill><a:srgbClr val="0B0F19"/></a:solidFill>
        </p:spPr>
      </p:sp>

      <!-- Card Container Box -->
      <p:sp>
        <p:nvSpPr><p:cNvPr id="3" name="CardBox"/><p:cNvSpPr/><p:nvPr/></p:nvSpPr>
        <p:spPr>
          <a:xfrm><a:off x="685800" y="548640"/><a:ext cx="10820400" cy="5760720"/></a:xfrm>
          <a:prstGeom prst="roundRect"><a:avLst><a:gd name="adj" fmla="val 2000"/></a:avLst></a:prstGeom>
          <a:solidFill><a:srgbClr val="151D30"/></a:solidFill>
          <a:ln w="12700"><a:solidFill><a:srgbClr val="23304C"/></a:solidFill></a:ln>
        </p:spPr>
      </p:sp>

      <!-- Category Label -->
      <p:sp>
        <p:nvSpPr><p:cNvPr id="4" name="Category"/><p:cNvSpPr txBox="1"/><p:nvPr/></p:nvSpPr>
        <p:spPr><a:xfrm><a:off x="1097280" y="822960"/><a:ext cx="9997440" cy="400000"/></a:xfrm></p:spPr>
        <p:txBody>
          <a:bodyPr vert="horz" lIns="0" tIns="0" rIns="0" bIns="0"/>
          <a:p>
            <a:r>
              <a:rPr lang="en-US" sz="1300" b="1">
                <a:solidFill><a:srgbClr val="38BDF8"/></a:solidFill>
              </a:rPr>
              <a:t>ANALYTICAL FRAMEWORK</a:t>
            </a:r>
          </a:p>
        </p:txBody>
      </p:sp>

      <!-- Main Title -->
      <p:sp>
        <p:nvSpPr><p:cNvPr id="5" name="Title"/><p:cNvSpPr txBox="1"/><p:nvPr/></p:nvSpPr>
        <p:spPr><a:xfrm><a:off x="1097280" y="1234440"/><a:ext cx="9997440" cy="900000"/></a:xfrm></p:spPr>
        <p:txBody>
          <a:bodyPr vert="horz" lIns="0" tIns="0" rIns="0" bIns="0"/>
          <a:p>
            <a:r>
              <a:rPr lang="en-US" sz="2600" b="1">
                <a:solidFill><a:srgbClr val="FFFFFF"/></a:solidFill>
              </a:rPr>
              <a:t>No-Report Decoding with 10 ms Hidden Markov Models</a:t>
            </a:r>
          </a:p>
        </p:txBody>
      </p:sp>

      <!-- Subtitle -->
      <p:sp>
        <p:nvSpPr><p:cNvPr id="6" name="Subtitle"/><p:cNvSpPr txBox="1"/><p:nvPr/></p:nvSpPr>
        <p:spPr><a:xfrm><a:off x="1097280" y="2140000"/><a:ext cx="9997440" cy="400000"/></a:xfrm></p:spPr>
        <p:txBody>
          <a:bodyPr vert="horz" lIns="0" tIns="0" rIns="0" bIns="0"/>
          <a:p>
            <a:r>
              <a:rPr lang="en-US" sz="1500" i="1">
                <a:solidFill><a:srgbClr val="94A3B8"/></a:solidFill>
              </a:rPr>
              <a:t>Eliminating decision and motor confounds via statistical state modeling</a:t>
            </a:r>
          </a:p>
        </p:txBody>
      </p:sp>

      <!-- Bullet Points -->
      <p:sp>
        <p:nvSpPr><p:cNvPr id="7" name="Bullets"/><p:cNvSpPr txBox="1"/><p:nvPr/></p:nvSpPr>
        <p:spPr><a:xfrm><a:off x="1097280" y="2650000"/><a:ext cx="9997440" cy="3000000"/></a:xfrm></p:spPr>
        <p:txBody>
          <a:bodyPr vert="horz" lIns="0" tIns="0" rIns="0" bIns="0"/>

      <a:p>
        <a:pPr marL="285750" indent="-285750">
          <a:buFont typeface="Arial"/>
          <a:buChar char="&bull;"/>
        </a:pPr>
        <a:r>
          <a:rPr lang="en-US" sz="2000" b="0">
            <a:solidFill><a:srgbClr val="CBD5E1"/></a:solidFill>
          </a:rPr>
          <a:t>No-report paradigm: Monkeys made no physical report; perceptual states were inferred directly from neural spikes.</a:t>
        </a:r>
      </a:p>
      <a:p><a:pPr><a:spcBfr><a:spcPts val="1200"/></a:spcBfr></a:pPr></a:p>
      <a:p>
        <a:pPr marL="285750" indent="-285750">
          <a:buFont typeface="Arial"/>
          <a:buChar char="&bull;"/>
        </a:pPr>
        <a:r>
          <a:rPr lang="en-US" sz="2000" b="0">
            <a:solidFill><a:srgbClr val="CBD5E1"/></a:solidFill>
          </a:rPr>
          <a:t>Fine temporal bins: Spikes binned in 10 ms sliding time windows (analysis bin, not state duration).</a:t>
        </a:r>
      </a:p>
      <a:p><a:pPr><a:spcBfr><a:spcPts val="1200"/></a:spcBfr></a:pPr></a:p>
      <a:p>
        <a:pPr marL="285750" indent="-285750">
          <a:buFont typeface="Arial"/>
          <a:buChar char="&bull;"/>
        </a:pPr>
        <a:r>
          <a:rPr lang="en-US" sz="2000" b="0">
            <a:solidFill><a:srgbClr val="CBD5E1"/></a:solidFill>
          </a:rPr>
          <a:t>Poisson LLR: Log-likelihood ratio compared single-trial activity to unconfounded single-stimulus templates.</a:t>
        </a:r>
      </a:p>
      <a:p><a:pPr><a:spcBfr><a:spcPts val="1200"/></a:spcBfr></a:pPr></a:p>
      <a:p>
        <a:pPr marL="285750" indent="-285750">
          <a:buFont typeface="Arial"/>
          <a:buChar char="&bull;"/>
        </a:pPr>
        <a:r>
          <a:rPr lang="en-US" sz="2000" b="0">
            <a:solidFill><a:srgbClr val="CBD5E1"/></a:solidFill>
          </a:rPr>
          <a:t>Decisive victory: 2-state Hidden Markov Model outperformed single-state static models in 19 out of 19 sessions.</a:t>
        </a:r>
      </a:p>
      <a:p><a:pPr><a:spcBfr><a:spcPts val="1200"/></a:spcBfr></a:pPr></a:p>
        </p:txBody>
      </p:sp>

      <!-- Footer Text -->
      <p:sp>
        <p:nvSpPr><p:cNvPr id="8" name="Footer"/><p:cNvSpPr txBox="1"/><p:nvPr/></p:nvSpPr>
        <p:spPr><a:xfrm><a:off x="1097280" y="5780000"/><a:ext cx="9997440" cy="350000"/></a:xfrm></p:spPr>
        <p:txBody>
          <a:bodyPr vert="horz" lIns="0" tIns="0" rIns="0" bIns="0"/>
          <a:p>
            <a:r>
              <a:rPr lang="en-US" sz="1100">
                <a:solidFill><a:srgbClr val="64748B"/></a:solidFill>
              </a:rPr>
              <a:t>10 ms Poisson LLR + 2-State HMM &amp;bull; 19/19 Sessions Outperform Single-State</a:t>
            </a:r>
          </a:p>
        </p:txBody>
      </p:sp>

    </p:spTree>
  </p:cSld>
  <p:clrMapOvr><a:masterClrMapping/></p:clrMapOvr>
</p:sld>
</file>

<file path=ppt/slides/slide6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spTree>
      <p:nvGrpSpPr><p:cNvPr id="1" name=""/><p:cNvGrpSpPr/><p:nvPr/></p:nvGrpSpPr>
      <p:grpSpPr><a:xfrm><a:off x="0" y="0"/><a:ext cx="0" cy="0"/><a:chOff x="0" y="0"/><a:chExt cx="0" cy="0"/></a:xfrm></p:grpSpPr>
      
      <!-- Background Shape -->
      <p:sp>
        <p:nvSpPr><p:cNvPr id="2" name="SlideBg"/><p:cNvSpPr><a:spLocks noGrp="1"/></p:cNvSpPr><p:nvPr/></p:nvSpPr>
        <p:spPr>
          <a:xfrm><a:off x="0" y="0"/><a:ext cx="12192000" cy="6858000"/></a:xfrm>
          <a:prstGeom prst="rect"><a:avLst/></a:prstGeom>
          <a:solidFill><a:srgbClr val="0B0F19"/></a:solidFill>
        </p:spPr>
      </p:sp>

      <!-- Card Container Box -->
      <p:sp>
        <p:nvSpPr><p:cNvPr id="3" name="CardBox"/><p:cNvSpPr/><p:nvPr/></p:nvSpPr>
        <p:spPr>
          <a:xfrm><a:off x="685800" y="548640"/><a:ext cx="10820400" cy="5760720"/></a:xfrm>
          <a:prstGeom prst="roundRect"><a:avLst><a:gd name="adj" fmla="val 2000"/></a:avLst></a:prstGeom>
          <a:solidFill><a:srgbClr val="151D30"/></a:solidFill>
          <a:ln w="12700"><a:solidFill><a:srgbClr val="23304C"/></a:solidFill></a:ln>
        </p:spPr>
      </p:sp>

      <!-- Category Label -->
      <p:sp>
        <p:nvSpPr><p:cNvPr id="4" name="Category"/><p:cNvSpPr txBox="1"/><p:nvPr/></p:nvSpPr>
        <p:spPr><a:xfrm><a:off x="1097280" y="822960"/><a:ext cx="9997440" cy="400000"/></a:xfrm></p:spPr>
        <p:txBody>
          <a:bodyPr vert="horz" lIns="0" tIns="0" rIns="0" bIns="0"/>
          <a:p>
            <a:r>
              <a:rPr lang="en-US" sz="1300" b="1">
                <a:solidFill><a:srgbClr val="38BDF8"/></a:solidFill>
              </a:rPr>
              <a:t>PRIMARY FINDING</a:t>
            </a:r>
          </a:p>
        </p:txBody>
      </p:sp>

      <!-- Main Title -->
      <p:sp>
        <p:nvSpPr><p:cNvPr id="5" name="Title"/><p:cNvSpPr txBox="1"/><p:nvPr/></p:nvSpPr>
        <p:spPr><a:xfrm><a:off x="1097280" y="1234440"/><a:ext cx="9997440" cy="900000"/></a:xfrm></p:spPr>
        <p:txBody>
          <a:bodyPr vert="horz" lIns="0" tIns="0" rIns="0" bIns="0"/>
          <a:p>
            <a:r>
              <a:rPr lang="en-US" sz="2600" b="1">
                <a:solidFill><a:srgbClr val="FFFFFF"/></a:solidFill>
              </a:rPr>
              <a:t>Populations Rapidly Alternate at ~15 Hz (~60 ms Dwell)</a:t>
            </a:r>
          </a:p>
        </p:txBody>
      </p:sp>

      <!-- Subtitle -->
      <p:sp>
        <p:nvSpPr><p:cNvPr id="6" name="Subtitle"/><p:cNvSpPr txBox="1"/><p:nvPr/></p:nvSpPr>
        <p:spPr><a:xfrm><a:off x="1097280" y="2140000"/><a:ext cx="9997440" cy="400000"/></a:xfrm></p:spPr>
        <p:txBody>
          <a:bodyPr vert="horz" lIns="0" tIns="0" rIns="0" bIns="0"/>
          <a:p>
            <a:r>
              <a:rPr lang="en-US" sz="1500" i="1">
                <a:solidFill><a:srgbClr val="94A3B8"/></a:solidFill>
              </a:rPr>
              <a:t>Conscious and suppressed representations trade places ~15 times per second</a:t>
            </a:r>
          </a:p>
        </p:txBody>
      </p:sp>

      <!-- Bullet Points -->
      <p:sp>
        <p:nvSpPr><p:cNvPr id="7" name="Bullets"/><p:cNvSpPr txBox="1"/><p:nvPr/></p:nvSpPr>
        <p:spPr><a:xfrm><a:off x="1097280" y="2650000"/><a:ext cx="9997440" cy="3000000"/></a:xfrm></p:spPr>
        <p:txBody>
          <a:bodyPr vert="horz" lIns="0" tIns="0" rIns="0" bIns="0"/>

      <a:p>
        <a:pPr marL="285750" indent="-285750">
          <a:buFont typeface="Arial"/>
          <a:buChar char="&bull;"/>
        </a:pPr>
        <a:r>
          <a:rPr lang="en-US" sz="2000" b="0">
            <a:solidFill><a:srgbClr val="CBD5E1"/></a:solidFill>
          </a:rPr>
          <a:t>High-speed alternation: Populations trade between conscious (State 1) and suppressed (State 2) representations ~15 Hz.</a:t>
        </a:r>
      </a:p>
      <a:p><a:pPr><a:spcBfr><a:spcPts val="1200"/></a:spcBfr></a:pPr></a:p>
      <a:p>
        <a:pPr marL="285750" indent="-285750">
          <a:buFont typeface="Arial"/>
          <a:buChar char="&bull;"/>
        </a:pPr>
        <a:r>
          <a:rPr lang="en-US" sz="2000" b="0">
            <a:solidFill><a:srgbClr val="CBD5E1"/></a:solidFill>
          </a:rPr>
          <a:t>Dwell time: Average micro-epoch duration is ~60 ms (mean 67 ms, median 46&amp;ndash;64 ms; State 1 = 64 ms, State 2 = 59 ms).</a:t>
        </a:r>
      </a:p>
      <a:p><a:pPr><a:spcBfr><a:spcPts val="1200"/></a:spcBfr></a:pPr></a:p>
      <a:p>
        <a:pPr marL="285750" indent="-285750">
          <a:buFont typeface="Arial"/>
          <a:buChar char="&bull;"/>
        </a:pPr>
        <a:r>
          <a:rPr lang="en-US" sz="2000" b="0">
            <a:solidFill><a:srgbClr val="CBD5E1"/></a:solidFill>
          </a:rPr>
          <a:t>Single-trial decoding: In State 1, 10-class conscious face decoding exceeds 61% (suppressed face is 4%; chance 10%).</a:t>
        </a:r>
      </a:p>
      <a:p><a:pPr><a:spcBfr><a:spcPts val="1200"/></a:spcBfr></a:pPr></a:p>
      <a:p>
        <a:pPr marL="285750" indent="-285750">
          <a:buFont typeface="Arial"/>
          <a:buChar char="&bull;"/>
        </a:pPr>
        <a:r>
          <a:rPr lang="en-US" sz="2000" b="0">
            <a:solidFill><a:srgbClr val="CBD5E1"/></a:solidFill>
          </a:rPr>
          <a:t>Orders of magnitude faster: 15 Hz alternation is &gt;10x faster than conscious perceptual switching (~0.5 Hz).</a:t>
        </a:r>
      </a:p>
      <a:p><a:pPr><a:spcBfr><a:spcPts val="1200"/></a:spcBfr></a:pPr></a:p>
        </p:txBody>
      </p:sp>

      <!-- Footer Text -->
      <p:sp>
        <p:nvSpPr><p:cNvPr id="8" name="Footer"/><p:cNvSpPr txBox="1"/><p:nvPr/></p:nvSpPr>
        <p:spPr><a:xfrm><a:off x="1097280" y="5780000"/><a:ext cx="9997440" cy="350000"/></a:xfrm></p:spPr>
        <p:txBody>
          <a:bodyPr vert="horz" lIns="0" tIns="0" rIns="0" bIns="0"/>
          <a:p>
            <a:r>
              <a:rPr lang="en-US" sz="1100">
                <a:solidFill><a:srgbClr val="64748B"/></a:solidFill>
              </a:rPr>
              <a:t>Alternation &amp;approx; 15 Hz &amp;bull; Mean Dwell &amp;approx; 67 ms &amp;bull; Decoding &gt; 61%</a:t>
            </a:r>
          </a:p>
        </p:txBody>
      </p:sp>

    </p:spTree>
  </p:cSld>
  <p:clrMapOvr><a:masterClrMapping/></p:clrMapOvr>
</p:sld>
</file>

<file path=ppt/slides/slide7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spTree>
      <p:nvGrpSpPr><p:cNvPr id="1" name=""/><p:cNvGrpSpPr/><p:nvPr/></p:nvGrpSpPr>
      <p:grpSpPr><a:xfrm><a:off x="0" y="0"/><a:ext cx="0" cy="0"/><a:chOff x="0" y="0"/><a:chExt cx="0" cy="0"/></a:xfrm></p:grpSpPr>
      
      <!-- Background Shape -->
      <p:sp>
        <p:nvSpPr><p:cNvPr id="2" name="SlideBg"/><p:cNvSpPr><a:spLocks noGrp="1"/></p:cNvSpPr><p:nvPr/></p:nvSpPr>
        <p:spPr>
          <a:xfrm><a:off x="0" y="0"/><a:ext cx="12192000" cy="6858000"/></a:xfrm>
          <a:prstGeom prst="rect"><a:avLst/></a:prstGeom>
          <a:solidFill><a:srgbClr val="0B0F19"/></a:solidFill>
        </p:spPr>
      </p:sp>

      <!-- Card Container Box -->
      <p:sp>
        <p:nvSpPr><p:cNvPr id="3" name="CardBox"/><p:cNvSpPr/><p:nvPr/></p:nvSpPr>
        <p:spPr>
          <a:xfrm><a:off x="685800" y="548640"/><a:ext cx="10820400" cy="5760720"/></a:xfrm>
          <a:prstGeom prst="roundRect"><a:avLst><a:gd name="adj" fmla="val 2000"/></a:avLst></a:prstGeom>
          <a:solidFill><a:srgbClr val="151D30"/></a:solidFill>
          <a:ln w="12700"><a:solidFill><a:srgbClr val="23304C"/></a:solidFill></a:ln>
        </p:spPr>
      </p:sp>

      <!-- Category Label -->
      <p:sp>
        <p:nvSpPr><p:cNvPr id="4" name="Category"/><p:cNvSpPr txBox="1"/><p:nvPr/></p:nvSpPr>
        <p:spPr><a:xfrm><a:off x="1097280" y="822960"/><a:ext cx="9997440" cy="400000"/></a:xfrm></p:spPr>
        <p:txBody>
          <a:bodyPr vert="horz" lIns="0" tIns="0" rIns="0" bIns="0"/>
          <a:p>
            <a:r>
              <a:rPr lang="en-US" sz="1300" b="1">
                <a:solidFill><a:srgbClr val="38BDF8"/></a:solidFill>
              </a:rPr>
              <a:t>NEURAL CODING</a:t>
            </a:r>
          </a:p>
        </p:txBody>
      </p:sp>

      <!-- Main Title -->
      <p:sp>
        <p:nvSpPr><p:cNvPr id="5" name="Title"/><p:cNvSpPr txBox="1"/><p:nvPr/></p:nvSpPr>
        <p:spPr><a:xfrm><a:off x="1097280" y="1234440"/><a:ext cx="9997440" cy="900000"/></a:xfrm></p:spPr>
        <p:txBody>
          <a:bodyPr vert="horz" lIns="0" tIns="0" rIns="0" bIns="0"/>
          <a:p>
            <a:r>
              <a:rPr lang="en-US" sz="2600" b="1">
                <a:solidFill><a:srgbClr val="FFFFFF"/></a:solidFill>
              </a:rPr>
              <a:t>The Unseen Face Occupies the Full 50-D Face Space</a:t>
            </a:r>
          </a:p>
        </p:txBody>
      </p:sp>

      <!-- Subtitle -->
      <p:sp>
        <p:nvSpPr><p:cNvPr id="6" name="Subtitle"/><p:cNvSpPr txBox="1"/><p:nvPr/></p:nvSpPr>
        <p:spPr><a:xfrm><a:off x="1097280" y="2140000"/><a:ext cx="9997440" cy="400000"/></a:xfrm></p:spPr>
        <p:txBody>
          <a:bodyPr vert="horz" lIns="0" tIns="0" rIns="0" bIns="0"/>
          <a:p>
            <a:r>
              <a:rPr lang="en-US" sz="1500" i="1">
                <a:solidFill><a:srgbClr val="94A3B8"/></a:solidFill>
              </a:rPr>
              <a:t>Suppressed stimuli are not weak phantoms; they retain full-fidelity representation</a:t>
            </a:r>
          </a:p>
        </p:txBody>
      </p:sp>

      <!-- Bullet Points -->
      <p:sp>
        <p:nvSpPr><p:cNvPr id="7" name="Bullets"/><p:cNvSpPr txBox="1"/><p:nvPr/></p:nvSpPr>
        <p:spPr><a:xfrm><a:off x="1097280" y="2650000"/><a:ext cx="9997440" cy="3000000"/></a:xfrm></p:spPr>
        <p:txBody>
          <a:bodyPr vert="horz" lIns="0" tIns="0" rIns="0" bIns="0"/>

      <a:p>
        <a:pPr marL="285750" indent="-285750">
          <a:buFont typeface="Arial"/>
          <a:buChar char="&bull;"/>
        </a:pPr>
        <a:r>
          <a:rPr lang="en-US" sz="2000" b="0">
            <a:solidFill><a:srgbClr val="CBD5E1"/></a:solidFill>
          </a:rPr>
          <a:t>Full geometric representation: During State 2 epochs, the suppressed face occupies the full 50-D feature face space.</a:t>
        </a:r>
      </a:p>
      <a:p><a:pPr><a:spcBfr><a:spcPts val="1200"/></a:spcBfr></a:pPr></a:p>
      <a:p>
        <a:pPr marL="285750" indent="-285750">
          <a:buFont typeface="Arial"/>
          <a:buChar char="&bull;"/>
        </a:pPr>
        <a:r>
          <a:rPr lang="en-US" sz="2000" b="0">
            <a:solidFill><a:srgbClr val="CBD5E1"/></a:solidFill>
          </a:rPr>
          <a:t>Robust firing rates: Overall mean firing rate in State 2 is slightly higher than in State 1.</a:t>
        </a:r>
      </a:p>
      <a:p><a:pPr><a:spcBfr><a:spcPts val="1200"/></a:spcBfr></a:pPr></a:p>
      <a:p>
        <a:pPr marL="285750" indent="-285750">
          <a:buFont typeface="Arial"/>
          <a:buChar char="&bull;"/>
        </a:pPr>
        <a:r>
          <a:rPr lang="en-US" sz="2000" b="0">
            <a:solidFill><a:srgbClr val="CBD5E1"/></a:solidFill>
          </a:rPr>
          <a:t>Same neural substrate: The exact same individual neurons alternate between representations (no separate sub-pools).</a:t>
        </a:r>
      </a:p>
      <a:p><a:pPr><a:spcBfr><a:spcPts val="1200"/></a:spcBfr></a:pPr></a:p>
      <a:p>
        <a:pPr marL="285750" indent="-285750">
          <a:buFont typeface="Arial"/>
          <a:buChar char="&bull;"/>
        </a:pPr>
        <a:r>
          <a:rPr lang="en-US" sz="2000" b="0">
            <a:solidFill><a:srgbClr val="CBD5E1"/></a:solidFill>
          </a:rPr>
          <a:t>Sensory persistence: High-level visual cortex faithfully encodes sensory reality regardless of subjective awareness.</a:t>
        </a:r>
      </a:p>
      <a:p><a:pPr><a:spcBfr><a:spcPts val="1200"/></a:spcBfr></a:pPr></a:p>
        </p:txBody>
      </p:sp>

      <!-- Footer Text -->
      <p:sp>
        <p:nvSpPr><p:cNvPr id="8" name="Footer"/><p:cNvSpPr txBox="1"/><p:nvPr/></p:nvSpPr>
        <p:spPr><a:xfrm><a:off x="1097280" y="5780000"/><a:ext cx="9997440" cy="350000"/></a:xfrm></p:spPr>
        <p:txBody>
          <a:bodyPr vert="horz" lIns="0" tIns="0" rIns="0" bIns="0"/>
          <a:p>
            <a:r>
              <a:rPr lang="en-US" sz="1100">
                <a:solidFill><a:srgbClr val="64748B"/></a:solidFill>
              </a:rPr>
              <a:t>Same Neurons Switch &amp;bull; Full 50-D Face Space &amp;bull; Higher Firing Rate in State 2</a:t>
            </a:r>
          </a:p>
        </p:txBody>
      </p:sp>

    </p:spTree>
  </p:cSld>
  <p:clrMapOvr><a:masterClrMapping/></p:clrMapOvr>
</p:sld>
</file>

<file path=ppt/slides/slide8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spTree>
      <p:nvGrpSpPr><p:cNvPr id="1" name=""/><p:cNvGrpSpPr/><p:nvPr/></p:nvGrpSpPr>
      <p:grpSpPr><a:xfrm><a:off x="0" y="0"/><a:ext cx="0" cy="0"/><a:chOff x="0" y="0"/><a:chExt cx="0" cy="0"/></a:xfrm></p:grpSpPr>
      
      <!-- Background Shape -->
      <p:sp>
        <p:nvSpPr><p:cNvPr id="2" name="SlideBg"/><p:cNvSpPr><a:spLocks noGrp="1"/></p:cNvSpPr><p:nvPr/></p:nvSpPr>
        <p:spPr>
          <a:xfrm><a:off x="0" y="0"/><a:ext cx="12192000" cy="6858000"/></a:xfrm>
          <a:prstGeom prst="rect"><a:avLst/></a:prstGeom>
          <a:solidFill><a:srgbClr val="0B0F19"/></a:solidFill>
        </p:spPr>
      </p:sp>

      <!-- Card Container Box -->
      <p:sp>
        <p:nvSpPr><p:cNvPr id="3" name="CardBox"/><p:cNvSpPr/><p:nvPr/></p:nvSpPr>
        <p:spPr>
          <a:xfrm><a:off x="685800" y="548640"/><a:ext cx="10820400" cy="5760720"/></a:xfrm>
          <a:prstGeom prst="roundRect"><a:avLst><a:gd name="adj" fmla="val 2000"/></a:avLst></a:prstGeom>
          <a:solidFill><a:srgbClr val="151D30"/></a:solidFill>
          <a:ln w="12700"><a:solidFill><a:srgbClr val="23304C"/></a:solidFill></a:ln>
        </p:spPr>
      </p:sp>

      <!-- Category Label -->
      <p:sp>
        <p:nvSpPr><p:cNvPr id="4" name="Category"/><p:cNvSpPr txBox="1"/><p:nvPr/></p:nvSpPr>
        <p:spPr><a:xfrm><a:off x="1097280" y="822960"/><a:ext cx="9997440" cy="400000"/></a:xfrm></p:spPr>
        <p:txBody>
          <a:bodyPr vert="horz" lIns="0" tIns="0" rIns="0" bIns="0"/>
          <a:p>
            <a:r>
              <a:rPr lang="en-US" sz="1300" b="1">
                <a:solidFill><a:srgbClr val="38BDF8"/></a:solidFill>
              </a:rPr>
              <a:t>QUANTITATIVE RIGOR</a:t>
            </a:r>
          </a:p>
        </p:txBody>
      </p:sp>

      <!-- Main Title -->
      <p:sp>
        <p:nvSpPr><p:cNvPr id="5" name="Title"/><p:cNvSpPr txBox="1"/><p:nvPr/></p:nvSpPr>
        <p:spPr><a:xfrm><a:off x="1097280" y="1234440"/><a:ext cx="9997440" cy="900000"/></a:xfrm></p:spPr>
        <p:txBody>
          <a:bodyPr vert="horz" lIns="0" tIns="0" rIns="0" bIns="0"/>
          <a:p>
            <a:r>
              <a:rPr lang="en-US" sz="2600" b="1">
                <a:solidFill><a:srgbClr val="FFFFFF"/></a:solidFill>
              </a:rPr>
              <a:t>Scientific Effect Size: 1.21 Tuning Gain Ratio</a:t>
            </a:r>
          </a:p>
        </p:txBody>
      </p:sp>

      <!-- Subtitle -->
      <p:sp>
        <p:nvSpPr><p:cNvPr id="6" name="Subtitle"/><p:cNvSpPr txBox="1"/><p:nvPr/></p:nvSpPr>
        <p:spPr><a:xfrm><a:off x="1097280" y="2140000"/><a:ext cx="9997440" cy="400000"/></a:xfrm></p:spPr>
        <p:txBody>
          <a:bodyPr vert="horz" lIns="0" tIns="0" rIns="0" bIns="0"/>
          <a:p>
            <a:r>
              <a:rPr lang="en-US" sz="1500" i="1">
                <a:solidFill><a:srgbClr val="94A3B8"/></a:solidFill>
              </a:rPr>
              <a:t>Distinguishing genuine effect size from statistical comparison p-values</a:t>
            </a:r>
          </a:p>
        </p:txBody>
      </p:sp>

      <!-- Bullet Points -->
      <p:sp>
        <p:nvSpPr><p:cNvPr id="7" name="Bullets"/><p:cNvSpPr txBox="1"/><p:nvPr/></p:nvSpPr>
        <p:spPr><a:xfrm><a:off x="1097280" y="2650000"/><a:ext cx="9997440" cy="3000000"/></a:xfrm></p:spPr>
        <p:txBody>
          <a:bodyPr vert="horz" lIns="0" tIns="0" rIns="0" bIns="0"/>

      <a:p>
        <a:pPr marL="285750" indent="-285750">
          <a:buFont typeface="Arial"/>
          <a:buChar char="&bull;"/>
        </a:pPr>
        <a:r>
          <a:rPr lang="en-US" sz="2000" b="0">
            <a:solidFill><a:srgbClr val="CBD5E1"/></a:solidFill>
          </a:rPr>
          <a:t>Tuning gain ratio: Neurons exhibit a 1.21 gain elevation during conscious vs suppressed epochs (r = 0.90).</a:t>
        </a:r>
      </a:p>
      <a:p><a:pPr><a:spcBfr><a:spcPts val="1200"/></a:spcBfr></a:pPr></a:p>
      <a:p>
        <a:pPr marL="285750" indent="-285750">
          <a:buFont typeface="Arial"/>
          <a:buChar char="&bull;"/>
        </a:pPr>
        <a:r>
          <a:rPr lang="en-US" sz="2000" b="0">
            <a:solidFill><a:srgbClr val="CBD5E1"/></a:solidFill>
          </a:rPr>
          <a:t>The true effect size: The scientific magnitude is the 1.21 ratio (21% gain increase), NOT the p-value alone.</a:t>
        </a:r>
      </a:p>
      <a:p><a:pPr><a:spcBfr><a:spcPts val="1200"/></a:spcBfr></a:pPr></a:p>
      <a:p>
        <a:pPr marL="285750" indent="-285750">
          <a:buFont typeface="Arial"/>
          <a:buChar char="&bull;"/>
        </a:pPr>
        <a:r>
          <a:rPr lang="en-US" sz="2000" b="0">
            <a:solidFill><a:srgbClr val="CBD5E1"/></a:solidFill>
          </a:rPr>
          <a:t>Statistical context: p = 3 &amp;times; 10^-40 reflects massive sample size and gain comparison precision, not raw magnitude.</a:t>
        </a:r>
      </a:p>
      <a:p><a:pPr><a:spcBfr><a:spcPts val="1200"/></a:spcBfr></a:pPr></a:p>
      <a:p>
        <a:pPr marL="285750" indent="-285750">
          <a:buFont typeface="Arial"/>
          <a:buChar char="&bull;"/>
        </a:pPr>
        <a:r>
          <a:rPr lang="en-US" sz="2000" b="0">
            <a:solidFill><a:srgbClr val="CBD5E1"/></a:solidFill>
          </a:rPr>
          <a:t>Single-cell modulation: The conscious percept modulates response gain rather than shifting receptive field tuning.</a:t>
        </a:r>
      </a:p>
      <a:p><a:pPr><a:spcBfr><a:spcPts val="1200"/></a:spcBfr></a:pPr></a:p>
        </p:txBody>
      </p:sp>

      <!-- Footer Text -->
      <p:sp>
        <p:nvSpPr><p:cNvPr id="8" name="Footer"/><p:cNvSpPr txBox="1"/><p:nvPr/></p:nvSpPr>
        <p:spPr><a:xfrm><a:off x="1097280" y="5780000"/><a:ext cx="9997440" cy="350000"/></a:xfrm></p:spPr>
        <p:txBody>
          <a:bodyPr vert="horz" lIns="0" tIns="0" rIns="0" bIns="0"/>
          <a:p>
            <a:r>
              <a:rPr lang="en-US" sz="1100">
                <a:solidFill><a:srgbClr val="64748B"/></a:solidFill>
              </a:rPr>
              <a:t>Effect Size = 1.21 Gain Ratio (r = 0.90) &amp;bull; p = 3x10^-40</a:t>
            </a:r>
          </a:p>
        </p:txBody>
      </p:sp>

    </p:spTree>
  </p:cSld>
  <p:clrMapOvr><a:masterClrMapping/></p:clrMapOvr>
</p:sld>
</file>

<file path=ppt/slides/slide9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spTree>
      <p:nvGrpSpPr><p:cNvPr id="1" name=""/><p:cNvGrpSpPr/><p:nvPr/></p:nvGrpSpPr>
      <p:grpSpPr><a:xfrm><a:off x="0" y="0"/><a:ext cx="0" cy="0"/><a:chOff x="0" y="0"/><a:chExt cx="0" cy="0"/></a:xfrm></p:grpSpPr>
      
      <!-- Background Shape -->
      <p:sp>
        <p:nvSpPr><p:cNvPr id="2" name="SlideBg"/><p:cNvSpPr><a:spLocks noGrp="1"/></p:cNvSpPr><p:nvPr/></p:nvSpPr>
        <p:spPr>
          <a:xfrm><a:off x="0" y="0"/><a:ext cx="12192000" cy="6858000"/></a:xfrm>
          <a:prstGeom prst="rect"><a:avLst/></a:prstGeom>
          <a:solidFill><a:srgbClr val="0B0F19"/></a:solidFill>
        </p:spPr>
      </p:sp>

      <!-- Card Container Box -->
      <p:sp>
        <p:nvSpPr><p:cNvPr id="3" name="CardBox"/><p:cNvSpPr/><p:nvPr/></p:nvSpPr>
        <p:spPr>
          <a:xfrm><a:off x="685800" y="548640"/><a:ext cx="10820400" cy="5760720"/></a:xfrm>
          <a:prstGeom prst="roundRect"><a:avLst><a:gd name="adj" fmla="val 2000"/></a:avLst></a:prstGeom>
          <a:solidFill><a:srgbClr val="151D30"/></a:solidFill>
          <a:ln w="12700"><a:solidFill><a:srgbClr val="23304C"/></a:solidFill></a:ln>
        </p:spPr>
      </p:sp>

      <!-- Category Label -->
      <p:sp>
        <p:nvSpPr><p:cNvPr id="4" name="Category"/><p:cNvSpPr txBox="1"/><p:nvPr/></p:nvSpPr>
        <p:spPr><a:xfrm><a:off x="1097280" y="822960"/><a:ext cx="9997440" cy="400000"/></a:xfrm></p:spPr>
        <p:txBody>
          <a:bodyPr vert="horz" lIns="0" tIns="0" rIns="0" bIns="0"/>
          <a:p>
            <a:r>
              <a:rPr lang="en-US" sz="1300" b="1">
                <a:solidFill><a:srgbClr val="38BDF8"/></a:solidFill>
              </a:rPr>
              <a:t>THEORETICAL RESOLUTION</a:t>
            </a:r>
          </a:p>
        </p:txBody>
      </p:sp>

      <!-- Main Title -->
      <p:sp>
        <p:nvSpPr><p:cNvPr id="5" name="Title"/><p:cNvSpPr txBox="1"/><p:nvPr/></p:nvSpPr>
        <p:spPr><a:xfrm><a:off x="1097280" y="1234440"/><a:ext cx="9997440" cy="900000"/></a:xfrm></p:spPr>
        <p:txBody>
          <a:bodyPr vert="horz" lIns="0" tIns="0" rIns="0" bIns="0"/>
          <a:p>
            <a:r>
              <a:rPr lang="en-US" sz="2600" b="1">
                <a:solidFill><a:srgbClr val="FFFFFF"/></a:solidFill>
              </a:rPr>
              <a:t>Time-Averaging Cancellation Resolves the 30-Year Mystery</a:t>
            </a:r>
          </a:p>
        </p:txBody>
      </p:sp>

      <!-- Subtitle -->
      <p:sp>
        <p:nvSpPr><p:cNvPr id="6" name="Subtitle"/><p:cNvSpPr txBox="1"/><p:nvPr/></p:nvSpPr>
        <p:spPr><a:xfrm><a:off x="1097280" y="2140000"/><a:ext cx="9997440" cy="400000"/></a:xfrm></p:spPr>
        <p:txBody>
          <a:bodyPr vert="horz" lIns="0" tIns="0" rIns="0" bIns="0"/>
          <a:p>
            <a:r>
              <a:rPr lang="en-US" sz="1500" i="1">
                <a:solidFill><a:srgbClr val="94A3B8"/></a:solidFill>
              </a:rPr>
              <a:t>Why past studies saw flat slopes: positive and negative epochs canceled out</a:t>
            </a:r>
          </a:p>
        </p:txBody>
      </p:sp>

      <!-- Bullet Points -->
      <p:sp>
        <p:nvSpPr><p:cNvPr id="7" name="Bullets"/><p:cNvSpPr txBox="1"/><p:nvPr/></p:nvSpPr>
        <p:spPr><a:xfrm><a:off x="1097280" y="2650000"/><a:ext cx="9997440" cy="3000000"/></a:xfrm></p:spPr>
        <p:txBody>
          <a:bodyPr vert="horz" lIns="0" tIns="0" rIns="0" bIns="0"/>

      <a:p>
        <a:pPr marL="285750" indent="-285750">
          <a:buFont typeface="Arial"/>
          <a:buChar char="&bull;"/>
        </a:pPr>
        <a:r>
          <a:rPr lang="en-US" sz="2000" b="0">
            <a:solidFill><a:srgbClr val="CBD5E1"/></a:solidFill>
          </a:rPr>
          <a:t>Micro-epoch reality: Alternating 60 ms periods carry robust, opposite tuning (+21% gain vs -21% gain).</a:t>
        </a:r>
      </a:p>
      <a:p><a:pPr><a:spcBfr><a:spcPts val="1200"/></a:spcBfr></a:pPr></a:p>
      <a:p>
        <a:pPr marL="285750" indent="-285750">
          <a:buFont typeface="Arial"/>
          <a:buChar char="&bull;"/>
        </a:pPr>
        <a:r>
          <a:rPr lang="en-US" sz="2000" b="0">
            <a:solidFill><a:srgbClr val="CBD5E1"/></a:solidFill>
          </a:rPr>
          <a:t>Time-averaged artifact: Blending across 500&amp;ndash;700 ms algebraically cancels the two signals into a flat 0.23 slope.</a:t>
        </a:r>
      </a:p>
      <a:p><a:pPr><a:spcBfr><a:spcPts val="1200"/></a:spcBfr></a:pPr></a:p>
      <a:p>
        <a:pPr marL="285750" indent="-285750">
          <a:buFont typeface="Arial"/>
          <a:buChar char="&bull;"/>
        </a:pPr>
        <a:r>
          <a:rPr lang="en-US" sz="2000" b="0">
            <a:solidFill><a:srgbClr val="CBD5E1"/></a:solidFill>
          </a:rPr>
          <a:t>Equalization proof: When micro-epoch gain is computationally equalized, residual correlation vanishes (r = -0.02).</a:t>
        </a:r>
      </a:p>
      <a:p><a:pPr><a:spcBfr><a:spcPts val="1200"/></a:spcBfr></a:pPr></a:p>
      <a:p>
        <a:pPr marL="285750" indent="-285750">
          <a:buFont typeface="Arial"/>
          <a:buChar char="&bull;"/>
        </a:pPr>
        <a:r>
          <a:rPr lang="en-US" sz="2000" b="0">
            <a:solidFill><a:srgbClr val="CBD5E1"/></a:solidFill>
          </a:rPr>
          <a:t>Methodological milestone: Unmasks the hidden dynamics that traditional time-averaging systematically erased.</a:t>
        </a:r>
      </a:p>
      <a:p><a:pPr><a:spcBfr><a:spcPts val="1200"/></a:spcBfr></a:pPr></a:p>
        </p:txBody>
      </p:sp>

      <!-- Footer Text -->
      <p:sp>
        <p:nvSpPr><p:cNvPr id="8" name="Footer"/><p:cNvSpPr txBox="1"/><p:nvPr/></p:nvSpPr>
        <p:spPr><a:xfrm><a:off x="1097280" y="5780000"/><a:ext cx="9997440" cy="350000"/></a:xfrm></p:spPr>
        <p:txBody>
          <a:bodyPr vert="horz" lIns="0" tIns="0" rIns="0" bIns="0"/>
          <a:p>
            <a:r>
              <a:rPr lang="en-US" sz="1100">
                <a:solidFill><a:srgbClr val="64748B"/></a:solidFill>
              </a:rPr>
              <a:t>Cancellation Explains Weak Modulation &amp;bull; Residual Correlation r = -0.02</a:t>
            </a:r>
          </a:p>
        </p:txBody>
      </p:sp>

    </p:spTree>
  </p:cSld>
  <p:clrMapOvr><a:masterClrMapping/></p:clrMapOvr>
</p:sld>
</file>

<file path=ppt/slides/slide10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spTree>
      <p:nvGrpSpPr><p:cNvPr id="1" name=""/><p:cNvGrpSpPr/><p:nvPr/></p:nvGrpSpPr>
      <p:grpSpPr><a:xfrm><a:off x="0" y="0"/><a:ext cx="0" cy="0"/><a:chOff x="0" y="0"/><a:chExt cx="0" cy="0"/></a:xfrm></p:grpSpPr>
      
      <!-- Background Shape -->
      <p:sp>
        <p:nvSpPr><p:cNvPr id="2" name="SlideBg"/><p:cNvSpPr><a:spLocks noGrp="1"/></p:cNvSpPr><p:nvPr/></p:nvSpPr>
        <p:spPr>
          <a:xfrm><a:off x="0" y="0"/><a:ext cx="12192000" cy="6858000"/></a:xfrm>
          <a:prstGeom prst="rect"><a:avLst/></a:prstGeom>
          <a:solidFill><a:srgbClr val="0B0F19"/></a:solidFill>
        </p:spPr>
      </p:sp>

      <!-- Card Container Box -->
      <p:sp>
        <p:nvSpPr><p:cNvPr id="3" name="CardBox"/><p:cNvSpPr/><p:nvPr/></p:nvSpPr>
        <p:spPr>
          <a:xfrm><a:off x="685800" y="548640"/><a:ext cx="10820400" cy="5760720"/></a:xfrm>
          <a:prstGeom prst="roundRect"><a:avLst><a:gd name="adj" fmla="val 2000"/></a:avLst></a:prstGeom>
          <a:solidFill><a:srgbClr val="151D30"/></a:solidFill>
          <a:ln w="12700"><a:solidFill><a:srgbClr val="23304C"/></a:solidFill></a:ln>
        </p:spPr>
      </p:sp>

      <!-- Category Label -->
      <p:sp>
        <p:nvSpPr><p:cNvPr id="4" name="Category"/><p:cNvSpPr txBox="1"/><p:nvPr/></p:nvSpPr>
        <p:spPr><a:xfrm><a:off x="1097280" y="822960"/><a:ext cx="9997440" cy="400000"/></a:xfrm></p:spPr>
        <p:txBody>
          <a:bodyPr vert="horz" lIns="0" tIns="0" rIns="0" bIns="0"/>
          <a:p>
            <a:r>
              <a:rPr lang="en-US" sz="1300" b="1">
                <a:solidFill><a:srgbClr val="38BDF8"/></a:solidFill>
              </a:rPr>
              <a:t>CORTICAL GENERALITY</a:t>
            </a:r>
          </a:p>
        </p:txBody>
      </p:sp>

      <!-- Main Title -->
      <p:sp>
        <p:nvSpPr><p:cNvPr id="5" name="Title"/><p:cNvSpPr txBox="1"/><p:nvPr/></p:nvSpPr>
        <p:spPr><a:xfrm><a:off x="1097280" y="1234440"/><a:ext cx="9997440" cy="900000"/></a:xfrm></p:spPr>
        <p:txBody>
          <a:bodyPr vert="horz" lIns="0" tIns="0" rIns="0" bIns="0"/>
          <a:p>
            <a:r>
              <a:rPr lang="en-US" sz="2600" b="1">
                <a:solidFill><a:srgbClr val="FFFFFF"/></a:solidFill>
              </a:rPr>
              <a:t>Widespread Scope: Qualitatively Similar Alternation in PFC</a:t>
            </a:r>
          </a:p>
        </p:txBody>
      </p:sp>

      <!-- Subtitle -->
      <p:sp>
        <p:nvSpPr><p:cNvPr id="6" name="Subtitle"/><p:cNvSpPr txBox="1"/><p:nvPr/></p:nvSpPr>
        <p:spPr><a:xfrm><a:off x="1097280" y="2140000"/><a:ext cx="9997440" cy="400000"/></a:xfrm></p:spPr>
        <p:txBody>
          <a:bodyPr vert="horz" lIns="0" tIns="0" rIns="0" bIns="0"/>
          <a:p>
            <a:r>
              <a:rPr lang="en-US" sz="1500" i="1">
                <a:solidFill><a:srgbClr val="94A3B8"/></a:solidFill>
              </a:rPr>
              <a:t>Temporal multiplexing extends into executive frontoparietal nodes</a:t>
            </a:r>
          </a:p>
        </p:txBody>
      </p:sp>

      <!-- Bullet Points -->
      <p:sp>
        <p:nvSpPr><p:cNvPr id="7" name="Bullets"/><p:cNvSpPr txBox="1"/><p:nvPr/></p:nvSpPr>
        <p:spPr><a:xfrm><a:off x="1097280" y="2650000"/><a:ext cx="9997440" cy="3000000"/></a:xfrm></p:spPr>
        <p:txBody>
          <a:bodyPr vert="horz" lIns="0" tIns="0" rIns="0" bIns="0"/>

      <a:p>
        <a:pPr marL="285750" indent="-285750">
          <a:buFont typeface="Arial"/>
          <a:buChar char="&bull;"/>
        </a:pPr>
        <a:r>
          <a:rPr lang="en-US" sz="2000" b="0">
            <a:solidFill><a:srgbClr val="CBD5E1"/></a:solidFill>
          </a:rPr>
          <a:t>Prefrontal involvement: Both patch PO and PVL in prefrontal cortex display qualitatively similar ~15 Hz alternation.</a:t>
        </a:r>
      </a:p>
      <a:p><a:pPr><a:spcBfr><a:spcPts val="1200"/></a:spcBfr></a:pPr></a:p>
      <a:p>
        <a:pPr marL="285750" indent="-285750">
          <a:buFont typeface="Arial"/>
          <a:buChar char="&bull;"/>
        </a:pPr>
        <a:r>
          <a:rPr lang="en-US" sz="2000" b="0">
            <a:solidFill><a:srgbClr val="CBD5E1"/></a:solidFill>
          </a:rPr>
          <a:t>PFC reconstruction: Decoding fidelity in PFC is lower (priming EV &lt; 80%, shape &lt; 30%), reflecting abstract encoding.</a:t>
        </a:r>
      </a:p>
      <a:p><a:pPr><a:spcBfr><a:spcPts val="1200"/></a:spcBfr></a:pPr></a:p>
      <a:p>
        <a:pPr marL="285750" indent="-285750">
          <a:buFont typeface="Arial"/>
          <a:buChar char="&bull;"/>
        </a:pPr>
        <a:r>
          <a:rPr lang="en-US" sz="2000" b="0">
            <a:solidFill><a:srgbClr val="CBD5E1"/></a:solidFill>
          </a:rPr>
          <a:t>Weak inter-patch synchrony: ML-AM switching coordination is weak, indicating locally autonomous temporal dynamics.</a:t>
        </a:r>
      </a:p>
      <a:p><a:pPr><a:spcBfr><a:spcPts val="1200"/></a:spcBfr></a:pPr></a:p>
      <a:p>
        <a:pPr marL="285750" indent="-285750">
          <a:buFont typeface="Arial"/>
          <a:buChar char="&bull;"/>
        </a:pPr>
        <a:r>
          <a:rPr lang="en-US" sz="2000" b="0">
            <a:solidFill><a:srgbClr val="CBD5E1"/></a:solidFill>
          </a:rPr>
          <a:t>Cortical hypothesis: Authors propose temporal multiplexing may be a widespread, general principle of cortical processing.</a:t>
        </a:r>
      </a:p>
      <a:p><a:pPr><a:spcBfr><a:spcPts val="1200"/></a:spcBfr></a:pPr></a:p>
        </p:txBody>
      </p:sp>

      <!-- Footer Text -->
      <p:sp>
        <p:nvSpPr><p:cNvPr id="8" name="Footer"/><p:cNvSpPr txBox="1"/><p:nvPr/></p:nvSpPr>
        <p:spPr><a:xfrm><a:off x="1097280" y="5780000"/><a:ext cx="9997440" cy="350000"/></a:xfrm></p:spPr>
        <p:txBody>
          <a:bodyPr vert="horz" lIns="0" tIns="0" rIns="0" bIns="0"/>
          <a:p>
            <a:r>
              <a:rPr lang="en-US" sz="1100">
                <a:solidFill><a:srgbClr val="64748B"/></a:solidFill>
              </a:rPr>
              <a:t>PFC Qualitatively Similar &amp;bull; Weak ML-AM Coordination &amp;bull; General Principle</a:t>
            </a:r>
          </a:p>
        </p:txBody>
      </p:sp>

    </p:spTree>
  </p:cSld>
  <p:clrMapOvr><a:masterClrMapping/></p:clrMapOvr>
</p:sld>
</file>

<file path=ppt/slides/slide11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spTree>
      <p:nvGrpSpPr><p:cNvPr id="1" name=""/><p:cNvGrpSpPr/><p:nvPr/></p:nvGrpSpPr>
      <p:grpSpPr><a:xfrm><a:off x="0" y="0"/><a:ext cx="0" cy="0"/><a:chOff x="0" y="0"/><a:chExt cx="0" cy="0"/></a:xfrm></p:grpSpPr>
      
      <!-- Background Shape -->
      <p:sp>
        <p:nvSpPr><p:cNvPr id="2" name="SlideBg"/><p:cNvSpPr><a:spLocks noGrp="1"/></p:cNvSpPr><p:nvPr/></p:nvSpPr>
        <p:spPr>
          <a:xfrm><a:off x="0" y="0"/><a:ext cx="12192000" cy="6858000"/></a:xfrm>
          <a:prstGeom prst="rect"><a:avLst/></a:prstGeom>
          <a:solidFill><a:srgbClr val="0B0F19"/></a:solidFill>
        </p:spPr>
      </p:sp>

      <!-- Card Container Box -->
      <p:sp>
        <p:nvSpPr><p:cNvPr id="3" name="CardBox"/><p:cNvSpPr/><p:nvPr/></p:nvSpPr>
        <p:spPr>
          <a:xfrm><a:off x="685800" y="548640"/><a:ext cx="10820400" cy="5760720"/></a:xfrm>
          <a:prstGeom prst="roundRect"><a:avLst><a:gd name="adj" fmla="val 2000"/></a:avLst></a:prstGeom>
          <a:solidFill><a:srgbClr val="151D30"/></a:solidFill>
          <a:ln w="12700"><a:solidFill><a:srgbClr val="23304C"/></a:solidFill></a:ln>
        </p:spPr>
      </p:sp>

      <!-- Category Label -->
      <p:sp>
        <p:nvSpPr><p:cNvPr id="4" name="Category"/><p:cNvSpPr txBox="1"/><p:nvPr/></p:nvSpPr>
        <p:spPr><a:xfrm><a:off x="1097280" y="822960"/><a:ext cx="9997440" cy="400000"/></a:xfrm></p:spPr>
        <p:txBody>
          <a:bodyPr vert="horz" lIns="0" tIns="0" rIns="0" bIns="0"/>
          <a:p>
            <a:r>
              <a:rPr lang="en-US" sz="1300" b="1">
                <a:solidFill><a:srgbClr val="38BDF8"/></a:solidFill>
              </a:rPr>
              <a:t>SCIENTIFIC GUARDRAILS</a:t>
            </a:r>
          </a:p>
        </p:txBody>
      </p:sp>

      <!-- Main Title -->
      <p:sp>
        <p:nvSpPr><p:cNvPr id="5" name="Title"/><p:cNvSpPr txBox="1"/><p:nvPr/></p:nvSpPr>
        <p:spPr><a:xfrm><a:off x="1097280" y="1234440"/><a:ext cx="9997440" cy="900000"/></a:xfrm></p:spPr>
        <p:txBody>
          <a:bodyPr vert="horz" lIns="0" tIns="0" rIns="0" bIns="0"/>
          <a:p>
            <a:r>
              <a:rPr lang="en-US" sz="2600" b="1">
                <a:solidFill><a:srgbClr val="FFFFFF"/></a:solidFill>
              </a:rPr>
              <a:t>Critical Guardrails: What This Finding Does NOT Claim</a:t>
            </a:r>
          </a:p>
        </p:txBody>
      </p:sp>

      <!-- Subtitle -->
      <p:sp>
        <p:nvSpPr><p:cNvPr id="6" name="Subtitle"/><p:cNvSpPr txBox="1"/><p:nvPr/></p:nvSpPr>
        <p:spPr><a:xfrm><a:off x="1097280" y="2140000"/><a:ext cx="9997440" cy="400000"/></a:xfrm></p:spPr>
        <p:txBody>
          <a:bodyPr vert="horz" lIns="0" tIns="0" rIns="0" bIns="0"/>
          <a:p>
            <a:r>
              <a:rPr lang="en-US" sz="1500" i="1">
                <a:solidFill><a:srgbClr val="94A3B8"/></a:solidFill>
              </a:rPr>
              <a:t>Explicitly refuting overclaims and enforcing theoretical boundaries</a:t>
            </a:r>
          </a:p>
        </p:txBody>
      </p:sp>

      <!-- Bullet Points -->
      <p:sp>
        <p:nvSpPr><p:cNvPr id="7" name="Bullets"/><p:cNvSpPr txBox="1"/><p:nvPr/></p:nvSpPr>
        <p:spPr><a:xfrm><a:off x="1097280" y="2650000"/><a:ext cx="9997440" cy="3000000"/></a:xfrm></p:spPr>
        <p:txBody>
          <a:bodyPr vert="horz" lIns="0" tIns="0" rIns="0" bIns="0"/>

      <a:p>
        <a:pPr marL="285750" indent="-285750">
          <a:buFont typeface="Arial"/>
          <a:buChar char="&bull;"/>
        </a:pPr>
        <a:r>
          <a:rPr lang="en-US" sz="2000" b="0">
            <a:solidFill><a:srgbClr val="CBD5E1"/></a:solidFill>
          </a:rPr>
          <a:t>Refuting &apos;Consciousness has a frame rate&apos; (F57 contradicted): Tsao explicitly clarified they did NOT prove a frame rate.</a:t>
        </a:r>
      </a:p>
      <a:p><a:pPr><a:spcBfr><a:spcPts val="1200"/></a:spcBfr></a:pPr></a:p>
      <a:p>
        <a:pPr marL="285750" indent="-285750">
          <a:buFont typeface="Arial"/>
          <a:buChar char="&bull;"/>
        </a:pPr>
        <a:r>
          <a:rPr lang="en-US" sz="2000" b="0">
            <a:solidFill><a:srgbClr val="CBD5E1"/></a:solidFill>
          </a:rPr>
          <a:t>Subjective continuity: Population representation alternation does not mean conscious perception flickers or jumps.</a:t>
        </a:r>
      </a:p>
      <a:p><a:pPr><a:spcBfr><a:spcPts val="1200"/></a:spcBfr></a:pPr></a:p>
      <a:p>
        <a:pPr marL="285750" indent="-285750">
          <a:buFont typeface="Arial"/>
          <a:buChar char="&bull;"/>
        </a:pPr>
        <a:r>
          <a:rPr lang="en-US" sz="2000" b="0">
            <a:solidFill><a:srgbClr val="CBD5E1"/></a:solidFill>
          </a:rPr>
          <a:t>Theoretical attribution: The preprint does not cite or evaluate GNWT or IIT; links to ignition or phi are external interpretation.</a:t>
        </a:r>
      </a:p>
      <a:p><a:pPr><a:spcBfr><a:spcPts val="1200"/></a:spcBfr></a:pPr></a:p>
      <a:p>
        <a:pPr marL="285750" indent="-285750">
          <a:buFont typeface="Arial"/>
          <a:buChar char="&bull;"/>
        </a:pPr>
        <a:r>
          <a:rPr lang="en-US" sz="2000" b="0">
            <a:solidFill><a:srgbClr val="CBD5E1"/></a:solidFill>
          </a:rPr>
          <a:t>Frequency specificity: 15 Hz sits in low-beta band; it is distinctly NOT theta (4&amp;ndash;8 Hz) or alpha (8&amp;ndash;12 Hz).</a:t>
        </a:r>
      </a:p>
      <a:p><a:pPr><a:spcBfr><a:spcPts val="1200"/></a:spcBfr></a:pPr></a:p>
        </p:txBody>
      </p:sp>

      <!-- Footer Text -->
      <p:sp>
        <p:nvSpPr><p:cNvPr id="8" name="Footer"/><p:cNvSpPr txBox="1"/><p:nvPr/></p:nvSpPr>
        <p:spPr><a:xfrm><a:off x="1097280" y="5780000"/><a:ext cx="9997440" cy="350000"/></a:xfrm></p:spPr>
        <p:txBody>
          <a:bodyPr vert="horz" lIns="0" tIns="0" rIns="0" bIns="0"/>
          <a:p>
            <a:r>
              <a:rPr lang="en-US" sz="1100">
                <a:solidFill><a:srgbClr val="64748B"/></a:solidFill>
              </a:rPr>
              <a:t>No Frame Rate Claim &amp;bull; Tsao Clarification &amp;bull; Guardrails Enforced</a:t>
            </a:r>
          </a:p>
        </p:txBody>
      </p:sp>

    </p:spTree>
  </p:cSld>
  <p:clrMapOvr><a:masterClrMapping/></p:clrMapOvr>
</p:sld>
</file>

<file path=ppt/slides/slide12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spTree>
      <p:nvGrpSpPr><p:cNvPr id="1" name=""/><p:cNvGrpSpPr/><p:nvPr/></p:nvGrpSpPr>
      <p:grpSpPr><a:xfrm><a:off x="0" y="0"/><a:ext cx="0" cy="0"/><a:chOff x="0" y="0"/><a:chExt cx="0" cy="0"/></a:xfrm></p:grpSpPr>
      
      <!-- Background Shape -->
      <p:sp>
        <p:nvSpPr><p:cNvPr id="2" name="SlideBg"/><p:cNvSpPr><a:spLocks noGrp="1"/></p:cNvSpPr><p:nvPr/></p:nvSpPr>
        <p:spPr>
          <a:xfrm><a:off x="0" y="0"/><a:ext cx="12192000" cy="6858000"/></a:xfrm>
          <a:prstGeom prst="rect"><a:avLst/></a:prstGeom>
          <a:solidFill><a:srgbClr val="0B0F19"/></a:solidFill>
        </p:spPr>
      </p:sp>

      <!-- Card Container Box -->
      <p:sp>
        <p:nvSpPr><p:cNvPr id="3" name="CardBox"/><p:cNvSpPr/><p:nvPr/></p:nvSpPr>
        <p:spPr>
          <a:xfrm><a:off x="685800" y="548640"/><a:ext cx="10820400" cy="5760720"/></a:xfrm>
          <a:prstGeom prst="roundRect"><a:avLst><a:gd name="adj" fmla="val 2000"/></a:avLst></a:prstGeom>
          <a:solidFill><a:srgbClr val="151D30"/></a:solidFill>
          <a:ln w="12700"><a:solidFill><a:srgbClr val="23304C"/></a:solidFill></a:ln>
        </p:spPr>
      </p:sp>

      <!-- Category Label -->
      <p:sp>
        <p:nvSpPr><p:cNvPr id="4" name="Category"/><p:cNvSpPr txBox="1"/><p:nvPr/></p:nvSpPr>
        <p:spPr><a:xfrm><a:off x="1097280" y="822960"/><a:ext cx="9997440" cy="400000"/></a:xfrm></p:spPr>
        <p:txBody>
          <a:bodyPr vert="horz" lIns="0" tIns="0" rIns="0" bIns="0"/>
          <a:p>
            <a:r>
              <a:rPr lang="en-US" sz="1300" b="1">
                <a:solidFill><a:srgbClr val="38BDF8"/></a:solidFill>
              </a:rPr>
              <a:t>SUMMARY &amp; HORIZONS</a:t>
            </a:r>
          </a:p>
        </p:txBody>
      </p:sp>

      <!-- Main Title -->
      <p:sp>
        <p:nvSpPr><p:cNvPr id="5" name="Title"/><p:cNvSpPr txBox="1"/><p:nvPr/></p:nvSpPr>
        <p:spPr><a:xfrm><a:off x="1097280" y="1234440"/><a:ext cx="9997440" cy="900000"/></a:xfrm></p:spPr>
        <p:txBody>
          <a:bodyPr vert="horz" lIns="0" tIns="0" rIns="0" bIns="0"/>
          <a:p>
            <a:r>
              <a:rPr lang="en-US" sz="2600" b="1">
                <a:solidFill><a:srgbClr val="FFFFFF"/></a:solidFill>
              </a:rPr>
              <a:t>Summary &amp; Open Scientific Frontiers</a:t>
            </a:r>
          </a:p>
        </p:txBody>
      </p:sp>

      <!-- Subtitle -->
      <p:sp>
        <p:nvSpPr><p:cNvPr id="6" name="Subtitle"/><p:cNvSpPr txBox="1"/><p:nvPr/></p:nvSpPr>
        <p:spPr><a:xfrm><a:off x="1097280" y="2140000"/><a:ext cx="9997440" cy="400000"/></a:xfrm></p:spPr>
        <p:txBody>
          <a:bodyPr vert="horz" lIns="0" tIns="0" rIns="0" bIns="0"/>
          <a:p>
            <a:r>
              <a:rPr lang="en-US" sz="1500" i="1">
                <a:solidFill><a:srgbClr val="94A3B8"/></a:solidFill>
              </a:rPr>
              <a:t>A dynamic new framework for understanding the stream of consciousness</a:t>
            </a:r>
          </a:p>
        </p:txBody>
      </p:sp>

      <!-- Bullet Points -->
      <p:sp>
        <p:nvSpPr><p:cNvPr id="7" name="Bullets"/><p:cNvSpPr txBox="1"/><p:nvPr/></p:nvSpPr>
        <p:spPr><a:xfrm><a:off x="1097280" y="2650000"/><a:ext cx="9997440" cy="3000000"/></a:xfrm></p:spPr>
        <p:txBody>
          <a:bodyPr vert="horz" lIns="0" tIns="0" rIns="0" bIns="0"/>

      <a:p>
        <a:pPr marL="285750" indent="-285750">
          <a:buFont typeface="Arial"/>
          <a:buChar char="&bull;"/>
        </a:pPr>
        <a:r>
          <a:rPr lang="en-US" sz="2000" b="0">
            <a:solidFill><a:srgbClr val="CBD5E1"/></a:solidFill>
          </a:rPr>
          <a:t>Sensory retention: The primate brain multiplexes suppressed visual inputs alongside conscious percepts at ~15 Hz.</a:t>
        </a:r>
      </a:p>
      <a:p><a:pPr><a:spcBfr><a:spcPts val="1200"/></a:spcBfr></a:pPr></a:p>
      <a:p>
        <a:pPr marL="285750" indent="-285750">
          <a:buFont typeface="Arial"/>
          <a:buChar char="&bull;"/>
        </a:pPr>
        <a:r>
          <a:rPr lang="en-US" sz="2000" b="0">
            <a:solidFill><a:srgbClr val="CBD5E1"/></a:solidFill>
          </a:rPr>
          <a:t>The readout question: How do downstream executive circuits selectively route conscious micro-epochs into behavior?</a:t>
        </a:r>
      </a:p>
      <a:p><a:pPr><a:spcBfr><a:spcPts val="1200"/></a:spcBfr></a:pPr></a:p>
      <a:p>
        <a:pPr marL="285750" indent="-285750">
          <a:buFont typeface="Arial"/>
          <a:buChar char="&bull;"/>
        </a:pPr>
        <a:r>
          <a:rPr lang="en-US" sz="2000" b="0">
            <a:solidFill><a:srgbClr val="CBD5E1"/></a:solidFill>
          </a:rPr>
          <a:t>Switching driver: The biological trigger driving the ~60 ms alternation cycle remains unknown.</a:t>
        </a:r>
      </a:p>
      <a:p><a:pPr><a:spcBfr><a:spcPts val="1200"/></a:spcBfr></a:pPr></a:p>
      <a:p>
        <a:pPr marL="285750" indent="-285750">
          <a:buFont typeface="Arial"/>
          <a:buChar char="&bull;"/>
        </a:pPr>
        <a:r>
          <a:rPr lang="en-US" sz="2000" b="0">
            <a:solidFill><a:srgbClr val="CBD5E1"/></a:solidFill>
          </a:rPr>
          <a:t>Preprint reminder: bioRxiv preprint, not yet peer reviewed; conducted in 2 male macaques tested exclusively on faces.</a:t>
        </a:r>
      </a:p>
      <a:p><a:pPr><a:spcBfr><a:spcPts val="1200"/></a:spcBfr></a:pPr></a:p>
        </p:txBody>
      </p:sp>

      <!-- Footer Text -->
      <p:sp>
        <p:nvSpPr><p:cNvPr id="8" name="Footer"/><p:cNvSpPr txBox="1"/><p:nvPr/></p:nvSpPr>
        <p:spPr><a:xfrm><a:off x="1097280" y="5780000"/><a:ext cx="9997440" cy="350000"/></a:xfrm></p:spPr>
        <p:txBody>
          <a:bodyPr vert="horz" lIns="0" tIns="0" rIns="0" bIns="0"/>
          <a:p>
            <a:r>
              <a:rPr lang="en-US" sz="1100">
                <a:solidFill><a:srgbClr val="64748B"/></a:solidFill>
              </a:rPr>
              <a:t>bioRxiv preprint, not yet peer reviewed &amp;bull; Open Questions &amp;bull; End of Deck</a:t>
            </a:r>
          </a:p>
        </p:txBody>
      </p:sp>

    </p:spTree>
  </p:cSld>
  <p:clrMapOvr><a:masterClrMapping/></p:clrMapOvr>
</p:sld>
</file>

<file path=ppt/theme/theme1.xml><?xml version="1.0" encoding="utf-8"?>
<a:theme xmlns:a="http://schemas.openxmlformats.org/drawingml/2006/main" name="Consciousness Dark Theme">
  <a:themeElements>
    <a:clrScheme name="Consciousness">
      <a:dk1>
        <a:srgbClr val="0B0F19"/>
      </a:dk1>
      <a:lt1>
        <a:srgbClr val="F8FAFC"/>
      </a:lt1>
      <a:dk2>
        <a:srgbClr val="151D30"/>
      </a:dk2>
      <a:lt2>
        <a:srgbClr val="94A3B8"/>
      </a:lt2>
      <a:accent1>
        <a:srgbClr val="38BDF8"/>
      </a:accent1>
      <a:accent2>
        <a:srgbClr val="F43F5E"/>
      </a:accent2>
      <a:accent3>
        <a:srgbClr val="FBBF24"/>
      </a:accent3>
      <a:accent4>
        <a:srgbClr val="34D399"/>
      </a:accent4>
      <a:accent5>
        <a:srgbClr val="818CF8"/>
      </a:accent5>
      <a:accent6>
        <a:srgbClr val="C084FC"/>
      </a:accent6>
      <a:hlink>
        <a:srgbClr val="38BDF8"/>
      </a:hlink>
      <a:folHlink>
        <a:srgbClr val="818CF8"/>
      </a:folHlink>
    </a:clrScheme>
    <a:fontScheme name="Modern Sans">
      <a:majorFont>
        <a:latin typeface="Segoe UI"/>
      </a:majorFont>
      <a:minorFont>
        <a:latin typeface="Segoe UI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